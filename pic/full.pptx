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image" Target="../media/image16.png"/><Relationship Id="rId7" Type="http://schemas.openxmlformats.org/officeDocument/2006/relationships/image" Target="../media/image15.jpeg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9.jpeg"/><Relationship Id="rId10" Type="http://schemas.openxmlformats.org/officeDocument/2006/relationships/image" Target="../media/image18.jpe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jpeg"/><Relationship Id="rId8" Type="http://schemas.openxmlformats.org/officeDocument/2006/relationships/image" Target="../media/image27.jpeg"/><Relationship Id="rId7" Type="http://schemas.openxmlformats.org/officeDocument/2006/relationships/image" Target="../media/image26.jpeg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jpeg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54.jpeg"/><Relationship Id="rId10" Type="http://schemas.openxmlformats.org/officeDocument/2006/relationships/image" Target="../media/image53.jpeg"/><Relationship Id="rId1" Type="http://schemas.openxmlformats.org/officeDocument/2006/relationships/image" Target="../media/image4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image" Target="../media/image55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1.jpeg"/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image" Target="../media/image5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jpeg"/><Relationship Id="rId8" Type="http://schemas.openxmlformats.org/officeDocument/2006/relationships/image" Target="../media/image69.jpeg"/><Relationship Id="rId7" Type="http://schemas.openxmlformats.org/officeDocument/2006/relationships/image" Target="../media/image68.jpeg"/><Relationship Id="rId6" Type="http://schemas.openxmlformats.org/officeDocument/2006/relationships/image" Target="../media/image67.jpeg"/><Relationship Id="rId5" Type="http://schemas.openxmlformats.org/officeDocument/2006/relationships/image" Target="../media/image66.jpeg"/><Relationship Id="rId4" Type="http://schemas.openxmlformats.org/officeDocument/2006/relationships/image" Target="../media/image65.jpeg"/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6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4.jpeg"/><Relationship Id="rId3" Type="http://schemas.openxmlformats.org/officeDocument/2006/relationships/image" Target="../media/image73.png"/><Relationship Id="rId2" Type="http://schemas.openxmlformats.org/officeDocument/2006/relationships/image" Target="../media/image72.jpeg"/><Relationship Id="rId1" Type="http://schemas.openxmlformats.org/officeDocument/2006/relationships/image" Target="../media/image7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jpeg"/><Relationship Id="rId8" Type="http://schemas.openxmlformats.org/officeDocument/2006/relationships/image" Target="../media/image82.jpeg"/><Relationship Id="rId7" Type="http://schemas.openxmlformats.org/officeDocument/2006/relationships/image" Target="../media/image81.jpeg"/><Relationship Id="rId6" Type="http://schemas.openxmlformats.org/officeDocument/2006/relationships/image" Target="../media/image80.jpeg"/><Relationship Id="rId5" Type="http://schemas.openxmlformats.org/officeDocument/2006/relationships/image" Target="../media/image79.jpeg"/><Relationship Id="rId4" Type="http://schemas.openxmlformats.org/officeDocument/2006/relationships/image" Target="../media/image78.jpeg"/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75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jpeg"/><Relationship Id="rId4" Type="http://schemas.openxmlformats.org/officeDocument/2006/relationships/image" Target="../media/image87.jpeg"/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image" Target="../media/image8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/>
          <p:nvPr/>
        </p:nvSpPr>
        <p:spPr>
          <a:xfrm>
            <a:off x="1790679" y="17558520"/>
            <a:ext cx="4369434" cy="410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更倾向于集体活动，从外界获取能量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更倾向于关注可能性，喜欢探索新想法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535"/>
              </a:lnSpc>
            </a:pP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和抽象概念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9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偏好基于情感和价值观做出决策，关注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555"/>
              </a:lnSpc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自己和他人的情绪感受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8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更有组织、计划和条理，倾向于按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步骤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555"/>
              </a:lnSpc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处理事情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9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谨慎自省，在意细节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与他人想法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5" name="group 4"/>
          <p:cNvGrpSpPr/>
          <p:nvPr/>
        </p:nvGrpSpPr>
        <p:grpSpPr>
          <a:xfrm rot="21600000">
            <a:off x="0" y="2765451"/>
            <a:ext cx="6813559" cy="901651"/>
            <a:chOff x="0" y="0"/>
            <a:chExt cx="6813559" cy="901651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6813559" cy="901651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-12700" y="-12700"/>
              <a:ext cx="6839584" cy="9594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27050" algn="l" rtl="0" eaLnBrk="0">
                <a:lnSpc>
                  <a:spcPts val="2410"/>
                </a:lnSpc>
              </a:pPr>
              <a:r>
                <a:rPr sz="3000" kern="0" spc="110" baseline="-4000" dirty="0">
                  <a:solidFill>
                    <a:srgbClr val="4010C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基本画像</a:t>
              </a:r>
              <a:r>
                <a:rPr sz="1900" kern="0" spc="420" dirty="0">
                  <a:solidFill>
                    <a:srgbClr val="4010C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</a:t>
              </a: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区荣格八维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</a:t>
              </a:r>
              <a:r>
                <a:rPr sz="17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职场小结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</a:t>
              </a:r>
              <a:r>
                <a:rPr sz="2600" kern="0" spc="100" baseline="50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恋爱锦囊</a:t>
              </a:r>
              <a:endParaRPr sz="2600" baseline="5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6" name="textbox 16"/>
          <p:cNvSpPr/>
          <p:nvPr/>
        </p:nvSpPr>
        <p:spPr>
          <a:xfrm>
            <a:off x="355574" y="16195678"/>
            <a:ext cx="6014720" cy="631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6100" algn="l" rtl="0" eaLnBrk="0">
              <a:lnSpc>
                <a:spcPct val="97000"/>
              </a:lnSpc>
              <a:tabLst>
                <a:tab pos="723900" algn="l"/>
              </a:tabLst>
            </a:pPr>
            <a:r>
              <a:rPr sz="3900" kern="0" spc="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900" u="sng" kern="0" spc="120" dirty="0">
                <a:solidFill>
                  <a:srgbClr val="D0603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</a:t>
            </a:r>
            <a:r>
              <a:rPr sz="3900" kern="0" spc="-40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900" b="1" kern="0" spc="-37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人格</a:t>
            </a:r>
            <a:r>
              <a:rPr sz="3900" b="1" kern="0" spc="-36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字母介</a:t>
            </a:r>
            <a:r>
              <a:rPr sz="3900" b="1" kern="0" spc="-34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绍</a:t>
            </a:r>
            <a:endParaRPr sz="3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8274" y="16208378"/>
            <a:ext cx="533415" cy="520766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536252" y="2042838"/>
            <a:ext cx="4252595" cy="497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你的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MBTI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人格类型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报告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1" name="group 10"/>
          <p:cNvGrpSpPr/>
          <p:nvPr/>
        </p:nvGrpSpPr>
        <p:grpSpPr>
          <a:xfrm rot="21600000">
            <a:off x="330212" y="17478354"/>
            <a:ext cx="1250967" cy="450825"/>
            <a:chOff x="0" y="0"/>
            <a:chExt cx="1250967" cy="450825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250967" cy="450825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1276985" cy="520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39115" algn="l" rtl="0" eaLnBrk="0">
                <a:lnSpc>
                  <a:spcPct val="100000"/>
                </a:lnSpc>
                <a:spcBef>
                  <a:spcPts val="5"/>
                </a:spcBef>
              </a:pPr>
              <a:r>
                <a:rPr sz="2200" kern="0" spc="-40" dirty="0">
                  <a:solidFill>
                    <a:srgbClr val="E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外向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 rot="21600000">
            <a:off x="342900" y="20221637"/>
            <a:ext cx="1250967" cy="412715"/>
            <a:chOff x="0" y="0"/>
            <a:chExt cx="1250967" cy="412715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250967" cy="412715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-12700" y="-12700"/>
              <a:ext cx="1276985" cy="4737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4150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900" kern="0" spc="1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J</a:t>
              </a:r>
              <a:r>
                <a:rPr sz="1900" kern="0" spc="6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</a:t>
              </a:r>
              <a:r>
                <a:rPr sz="1900" kern="0" spc="120" dirty="0">
                  <a:solidFill>
                    <a:srgbClr val="E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判断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 rot="21600000">
            <a:off x="342900" y="21301064"/>
            <a:ext cx="1250967" cy="412715"/>
            <a:chOff x="0" y="0"/>
            <a:chExt cx="1250967" cy="412715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250967" cy="412715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-12700" y="-12700"/>
              <a:ext cx="1276985" cy="4743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27050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900" kern="0" spc="180" dirty="0">
                  <a:solidFill>
                    <a:srgbClr val="E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纠结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 rot="21600000">
            <a:off x="342900" y="19173823"/>
            <a:ext cx="1238280" cy="412715"/>
            <a:chOff x="0" y="0"/>
            <a:chExt cx="1238280" cy="412715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238280" cy="412715"/>
            </a:xfrm>
            <a:prstGeom prst="rect">
              <a:avLst/>
            </a:prstGeom>
          </p:spPr>
        </p:pic>
        <p:sp>
          <p:nvSpPr>
            <p:cNvPr id="46" name="textbox 46"/>
            <p:cNvSpPr/>
            <p:nvPr/>
          </p:nvSpPr>
          <p:spPr>
            <a:xfrm>
              <a:off x="-12700" y="-12700"/>
              <a:ext cx="1264285" cy="4743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3515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2000" kern="0" spc="4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   </a:t>
              </a:r>
              <a:r>
                <a:rPr sz="2000" kern="0" spc="40" dirty="0">
                  <a:solidFill>
                    <a:srgbClr val="E0503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感性</a:t>
              </a:r>
              <a:endParaRPr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 rot="21600000">
            <a:off x="317525" y="18094396"/>
            <a:ext cx="514349" cy="463384"/>
            <a:chOff x="0" y="0"/>
            <a:chExt cx="514349" cy="463384"/>
          </a:xfrm>
        </p:grpSpPr>
        <p:pic>
          <p:nvPicPr>
            <p:cNvPr id="52" name="picture 5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14349" cy="463384"/>
            </a:xfrm>
            <a:prstGeom prst="rect">
              <a:avLst/>
            </a:prstGeom>
          </p:spPr>
        </p:pic>
        <p:sp>
          <p:nvSpPr>
            <p:cNvPr id="54" name="textbox 54"/>
            <p:cNvSpPr/>
            <p:nvPr/>
          </p:nvSpPr>
          <p:spPr>
            <a:xfrm>
              <a:off x="-12700" y="-12700"/>
              <a:ext cx="539750" cy="5467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8915" algn="l" rtl="0" eaLnBrk="0">
                <a:lnSpc>
                  <a:spcPct val="82000"/>
                </a:lnSpc>
              </a:pPr>
              <a:r>
                <a:rPr sz="19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</a:t>
              </a:r>
              <a:endParaRPr sz="1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2" name="rect 62"/>
          <p:cNvSpPr/>
          <p:nvPr/>
        </p:nvSpPr>
        <p:spPr>
          <a:xfrm>
            <a:off x="863685" y="18234623"/>
            <a:ext cx="525932" cy="276377"/>
          </a:xfrm>
          <a:prstGeom prst="rect">
            <a:avLst/>
          </a:prstGeom>
          <a:solidFill>
            <a:srgbClr val="FFE0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textbox 64"/>
          <p:cNvSpPr/>
          <p:nvPr/>
        </p:nvSpPr>
        <p:spPr>
          <a:xfrm>
            <a:off x="863615" y="18233314"/>
            <a:ext cx="539115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900" kern="0" spc="110" dirty="0">
                <a:solidFill>
                  <a:srgbClr val="D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直觉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6701624" y="15044492"/>
            <a:ext cx="139064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八维报告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6700830" y="13300512"/>
            <a:ext cx="139700" cy="349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恋爱报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rect 74"/>
          <p:cNvSpPr/>
          <p:nvPr/>
        </p:nvSpPr>
        <p:spPr>
          <a:xfrm>
            <a:off x="1965345" y="8747230"/>
            <a:ext cx="6350" cy="190332"/>
          </a:xfrm>
          <a:prstGeom prst="rect">
            <a:avLst/>
          </a:prstGeom>
          <a:solidFill>
            <a:srgbClr val="000000">
              <a:alpha val="7529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rect 76"/>
          <p:cNvSpPr/>
          <p:nvPr/>
        </p:nvSpPr>
        <p:spPr>
          <a:xfrm>
            <a:off x="6711925" y="6648429"/>
            <a:ext cx="120700" cy="6350"/>
          </a:xfrm>
          <a:prstGeom prst="rect">
            <a:avLst/>
          </a:prstGeom>
          <a:solidFill>
            <a:srgbClr val="000000">
              <a:alpha val="7568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" name="path 78"/>
          <p:cNvSpPr/>
          <p:nvPr/>
        </p:nvSpPr>
        <p:spPr>
          <a:xfrm>
            <a:off x="6711925" y="8464508"/>
            <a:ext cx="120700" cy="6350"/>
          </a:xfrm>
          <a:custGeom>
            <a:avLst/>
            <a:gdLst/>
            <a:ahLst/>
            <a:cxnLst/>
            <a:rect l="0" t="0" r="0" b="0"/>
            <a:pathLst>
              <a:path w="190" h="10">
                <a:moveTo>
                  <a:pt x="0" y="5"/>
                </a:moveTo>
                <a:lnTo>
                  <a:pt x="190" y="5"/>
                </a:lnTo>
                <a:moveTo>
                  <a:pt x="0" y="5"/>
                </a:moveTo>
                <a:lnTo>
                  <a:pt x="190" y="5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rect 80"/>
          <p:cNvSpPr/>
          <p:nvPr/>
        </p:nvSpPr>
        <p:spPr>
          <a:xfrm>
            <a:off x="6711925" y="10045646"/>
            <a:ext cx="120700" cy="6350"/>
          </a:xfrm>
          <a:prstGeom prst="rect">
            <a:avLst/>
          </a:prstGeom>
          <a:solidFill>
            <a:srgbClr val="000000">
              <a:alpha val="7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rect 82"/>
          <p:cNvSpPr/>
          <p:nvPr/>
        </p:nvSpPr>
        <p:spPr>
          <a:xfrm>
            <a:off x="6711925" y="14662171"/>
            <a:ext cx="120700" cy="6350"/>
          </a:xfrm>
          <a:prstGeom prst="rect">
            <a:avLst/>
          </a:prstGeom>
          <a:solidFill>
            <a:srgbClr val="000000">
              <a:alpha val="7529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600" y="3891915"/>
            <a:ext cx="6032500" cy="98850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4"/>
          <p:cNvSpPr/>
          <p:nvPr/>
        </p:nvSpPr>
        <p:spPr>
          <a:xfrm>
            <a:off x="342887" y="3305547"/>
            <a:ext cx="6049645" cy="2392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展现出真实、关怀和利他主义的耀眼光环，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865"/>
              </a:spcBef>
            </a:pP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人们经常被他们强大的人格影响力所折服。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5"/>
              </a:spcBef>
            </a:pP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是富有热情和同情心的领导者，他们能够成功带领</a:t>
            </a: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团队，并且在社交场合中能</a:t>
            </a: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够轻松应对。他们注重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人际关系，愿意帮助他人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，是真正的社交高手和团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队合作的引领者。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49277" y="13735070"/>
            <a:ext cx="2851144" cy="4165599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81384" y="13735068"/>
            <a:ext cx="2825770" cy="4172002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355574" y="2165272"/>
            <a:ext cx="6036945" cy="642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6100" algn="l" rtl="0" eaLnBrk="0">
              <a:lnSpc>
                <a:spcPct val="98000"/>
              </a:lnSpc>
              <a:spcBef>
                <a:spcPts val="0"/>
              </a:spcBef>
              <a:tabLst>
                <a:tab pos="4038600" algn="l"/>
              </a:tabLst>
            </a:pPr>
            <a:r>
              <a:rPr sz="3800" u="sng" kern="0" spc="0" dirty="0">
                <a:solidFill>
                  <a:srgbClr val="E0806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800" kern="0" spc="-35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800" b="1" kern="0" spc="-34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</a:t>
            </a:r>
            <a:r>
              <a:rPr sz="3800" b="1" kern="0" spc="-33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格特</a:t>
            </a:r>
            <a:r>
              <a:rPr sz="3800" b="1" kern="0" spc="-20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点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8274" y="2177972"/>
            <a:ext cx="533415" cy="533559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4076725" y="6435565"/>
            <a:ext cx="2338704" cy="1051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2000"/>
              </a:lnSpc>
            </a:pPr>
            <a:r>
              <a:rPr sz="1800" kern="0" spc="-10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PERSONAL</a:t>
            </a:r>
            <a:r>
              <a:rPr sz="1800" kern="0" spc="-9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</a:t>
            </a:r>
            <a:r>
              <a:rPr sz="1800" kern="0" spc="-10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</a:t>
            </a:r>
            <a:r>
              <a:rPr sz="1800" kern="0" spc="9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10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RARIT</a:t>
            </a:r>
            <a:r>
              <a:rPr sz="1800" kern="0" spc="-2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215" algn="l" rtl="0" eaLnBrk="0">
              <a:lnSpc>
                <a:spcPct val="96000"/>
              </a:lnSpc>
            </a:pPr>
            <a:r>
              <a:rPr sz="3500" b="1" kern="0" spc="-1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人格稀有度</a:t>
            </a:r>
            <a:endParaRPr sz="3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635255" y="8928131"/>
            <a:ext cx="1473167" cy="1479452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9607" y="8934535"/>
            <a:ext cx="1466857" cy="1479451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68274" y="12655573"/>
            <a:ext cx="4038607" cy="533344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660902" y="8934535"/>
            <a:ext cx="1454170" cy="1479451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68274" y="6877133"/>
            <a:ext cx="3568697" cy="533344"/>
          </a:xfrm>
          <a:prstGeom prst="rect">
            <a:avLst/>
          </a:prstGeom>
        </p:spPr>
      </p:pic>
      <p:sp>
        <p:nvSpPr>
          <p:cNvPr id="112" name="textbox 112"/>
          <p:cNvSpPr/>
          <p:nvPr/>
        </p:nvSpPr>
        <p:spPr>
          <a:xfrm>
            <a:off x="323822" y="8020119"/>
            <a:ext cx="2546985" cy="4965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2750" algn="l" rtl="0" eaLnBrk="0">
              <a:lnSpc>
                <a:spcPct val="99000"/>
              </a:lnSpc>
              <a:spcBef>
                <a:spcPts val="0"/>
              </a:spcBef>
              <a:tabLst>
                <a:tab pos="555625" algn="l"/>
              </a:tabLst>
            </a:pPr>
            <a:r>
              <a:rPr sz="2300" kern="0" spc="0" dirty="0">
                <a:solidFill>
                  <a:srgbClr val="5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300" b="1" kern="0" spc="-140" dirty="0">
                <a:solidFill>
                  <a:srgbClr val="504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稀有度排名：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526002" y="8032819"/>
            <a:ext cx="349277" cy="393552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36522" y="8077213"/>
            <a:ext cx="400095" cy="387363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1676369" y="18446819"/>
            <a:ext cx="2324735" cy="419100"/>
          </a:xfrm>
          <a:prstGeom prst="rect">
            <a:avLst/>
          </a:prstGeom>
          <a:solidFill>
            <a:srgbClr val="F4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algn="l" rtl="0" eaLnBrk="0">
              <a:lnSpc>
                <a:spcPts val="2480"/>
              </a:lnSpc>
              <a:spcBef>
                <a:spcPts val="0"/>
              </a:spcBef>
            </a:pPr>
            <a:r>
              <a:rPr sz="1900" kern="0" spc="-16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安雅</a:t>
            </a:r>
            <a:r>
              <a:rPr sz="1900" kern="0" spc="-16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16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·泰勒</a:t>
            </a:r>
            <a:r>
              <a:rPr sz="1900" kern="0" spc="-9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16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·乔伊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4565817" y="12681055"/>
            <a:ext cx="1826895" cy="594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</a:pPr>
            <a:r>
              <a:rPr sz="3800" b="1" kern="0" spc="-31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代表</a:t>
            </a:r>
            <a:r>
              <a:rPr sz="3800" b="1" kern="0" spc="-30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</a:t>
            </a:r>
            <a:r>
              <a:rPr sz="3800" b="1" kern="0" spc="-20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物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3771900" y="19678699"/>
            <a:ext cx="2159000" cy="419100"/>
          </a:xfrm>
          <a:prstGeom prst="rect">
            <a:avLst/>
          </a:prstGeom>
          <a:solidFill>
            <a:srgbClr val="F4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0" algn="l" rtl="0" eaLnBrk="0">
              <a:lnSpc>
                <a:spcPct val="100000"/>
              </a:lnSpc>
              <a:spcBef>
                <a:spcPts val="0"/>
              </a:spcBef>
            </a:pPr>
            <a:r>
              <a:rPr sz="2100" kern="0" spc="-19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西德尼</a:t>
            </a:r>
            <a:r>
              <a:rPr sz="2100" kern="0" spc="-19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-19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·斯威尼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863615" y="10661487"/>
            <a:ext cx="1111250" cy="811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185"/>
              </a:lnSpc>
            </a:pPr>
            <a:r>
              <a:rPr sz="17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占总人口：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0" algn="l" rtl="0" eaLnBrk="0">
              <a:lnSpc>
                <a:spcPts val="3135"/>
              </a:lnSpc>
              <a:spcBef>
                <a:spcPts val="5"/>
              </a:spcBef>
            </a:pPr>
            <a:r>
              <a:rPr sz="2300" kern="0" spc="-30" dirty="0">
                <a:solidFill>
                  <a:srgbClr val="F07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2.5%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4267184" y="18446819"/>
            <a:ext cx="1880235" cy="419100"/>
          </a:xfrm>
          <a:prstGeom prst="rect">
            <a:avLst/>
          </a:prstGeom>
          <a:solidFill>
            <a:srgbClr val="F5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0" algn="l" rtl="0" eaLnBrk="0">
              <a:lnSpc>
                <a:spcPts val="2515"/>
              </a:lnSpc>
              <a:spcBef>
                <a:spcPts val="0"/>
              </a:spcBef>
            </a:pPr>
            <a:r>
              <a:rPr sz="2000" kern="0" spc="-11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约翰</a:t>
            </a:r>
            <a:r>
              <a:rPr sz="2000" kern="0" spc="-13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11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·库萨克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2387612" y="20301043"/>
            <a:ext cx="1892300" cy="406400"/>
          </a:xfrm>
          <a:prstGeom prst="rect">
            <a:avLst/>
          </a:prstGeom>
          <a:solidFill>
            <a:srgbClr val="F4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algn="l" rtl="0" eaLnBrk="0">
              <a:lnSpc>
                <a:spcPts val="2495"/>
              </a:lnSpc>
              <a:spcBef>
                <a:spcPts val="0"/>
              </a:spcBef>
            </a:pPr>
            <a:r>
              <a:rPr sz="2000" kern="0" spc="-12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达蒙</a:t>
            </a:r>
            <a:r>
              <a:rPr sz="2000" kern="0" spc="-14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12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000" kern="0" spc="-12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奥尔本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2755887" y="19068949"/>
            <a:ext cx="1866900" cy="407034"/>
          </a:xfrm>
          <a:prstGeom prst="rect">
            <a:avLst/>
          </a:prstGeom>
          <a:solidFill>
            <a:srgbClr val="F3F3F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algn="l" rtl="0" eaLnBrk="0">
              <a:lnSpc>
                <a:spcPts val="2500"/>
              </a:lnSpc>
            </a:pPr>
            <a:r>
              <a:rPr sz="2000" kern="0" spc="-150" dirty="0">
                <a:solidFill>
                  <a:srgbClr val="F08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肖恩</a:t>
            </a:r>
            <a:r>
              <a:rPr sz="2000" kern="0" spc="-110" dirty="0">
                <a:solidFill>
                  <a:srgbClr val="F08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150" dirty="0">
                <a:solidFill>
                  <a:srgbClr val="F08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000" kern="0" spc="-150" dirty="0">
                <a:solidFill>
                  <a:srgbClr val="F06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康纳利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1790679" y="499302"/>
            <a:ext cx="3072764" cy="29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人情味重，为人处世有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温度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558789" y="19068949"/>
            <a:ext cx="1842135" cy="381634"/>
          </a:xfrm>
          <a:prstGeom prst="rect">
            <a:avLst/>
          </a:prstGeom>
          <a:solidFill>
            <a:srgbClr val="F5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0" algn="l" rtl="0" eaLnBrk="0">
              <a:lnSpc>
                <a:spcPts val="2510"/>
              </a:lnSpc>
              <a:spcBef>
                <a:spcPts val="5"/>
              </a:spcBef>
            </a:pPr>
            <a:r>
              <a:rPr sz="2000" kern="0" spc="-15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</a:t>
            </a:r>
            <a:r>
              <a:rPr sz="2000" kern="0" spc="-12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15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000" kern="0" spc="-83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15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阿弗莱克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5029232" y="10658591"/>
            <a:ext cx="869950" cy="840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150"/>
              </a:lnSpc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占女性：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135"/>
              </a:lnSpc>
              <a:spcBef>
                <a:spcPts val="5"/>
              </a:spcBef>
            </a:pPr>
            <a:r>
              <a:rPr sz="2300" kern="0" spc="-30" dirty="0">
                <a:solidFill>
                  <a:srgbClr val="F07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3.3%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3009894" y="10656902"/>
            <a:ext cx="870585" cy="838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135"/>
              </a:lnSpc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占男性：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000"/>
              </a:lnSpc>
            </a:pPr>
            <a:r>
              <a:rPr sz="2200" kern="0" spc="-70" dirty="0">
                <a:solidFill>
                  <a:srgbClr val="F0701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1.6%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317525" y="400155"/>
            <a:ext cx="1282651" cy="431755"/>
            <a:chOff x="0" y="0"/>
            <a:chExt cx="1282651" cy="431755"/>
          </a:xfrm>
        </p:grpSpPr>
        <p:pic>
          <p:nvPicPr>
            <p:cNvPr id="162" name="picture 16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282651" cy="431755"/>
            </a:xfrm>
            <a:prstGeom prst="rect">
              <a:avLst/>
            </a:prstGeom>
          </p:spPr>
        </p:pic>
        <p:sp>
          <p:nvSpPr>
            <p:cNvPr id="164" name="textbox 164"/>
            <p:cNvSpPr/>
            <p:nvPr/>
          </p:nvSpPr>
          <p:spPr>
            <a:xfrm>
              <a:off x="-12700" y="-12700"/>
              <a:ext cx="1308100" cy="4965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5900" algn="l" rtl="0" eaLnBrk="0">
                <a:lnSpc>
                  <a:spcPct val="87000"/>
                </a:lnSpc>
                <a:spcBef>
                  <a:spcPts val="0"/>
                </a:spcBef>
              </a:pPr>
              <a:r>
                <a:rPr sz="3300" kern="0" spc="-70" baseline="-600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</a:t>
              </a:r>
              <a:r>
                <a:rPr sz="2100" kern="0" spc="15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</a:t>
              </a:r>
              <a:r>
                <a:rPr sz="1900" kern="0" spc="-70" dirty="0">
                  <a:solidFill>
                    <a:srgbClr val="E0402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温</a:t>
              </a:r>
              <a:r>
                <a:rPr sz="1900" kern="0" spc="-350" dirty="0">
                  <a:solidFill>
                    <a:srgbClr val="E0402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-70" dirty="0">
                  <a:solidFill>
                    <a:srgbClr val="E0402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暖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66" name="textbox 166"/>
          <p:cNvSpPr/>
          <p:nvPr/>
        </p:nvSpPr>
        <p:spPr>
          <a:xfrm>
            <a:off x="749305" y="19678699"/>
            <a:ext cx="1156335" cy="419100"/>
          </a:xfrm>
          <a:prstGeom prst="rect">
            <a:avLst/>
          </a:prstGeom>
          <a:solidFill>
            <a:srgbClr val="F3F3F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0" algn="l" rtl="0" eaLnBrk="0">
              <a:lnSpc>
                <a:spcPct val="96000"/>
              </a:lnSpc>
              <a:spcBef>
                <a:spcPts val="5"/>
              </a:spcBef>
            </a:pPr>
            <a:r>
              <a:rPr sz="2200" kern="0" spc="-4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奥巴马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4965671" y="19068949"/>
            <a:ext cx="1130935" cy="394334"/>
          </a:xfrm>
          <a:prstGeom prst="rect">
            <a:avLst/>
          </a:prstGeom>
          <a:solidFill>
            <a:srgbClr val="F8F8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065" algn="l" rtl="0" eaLnBrk="0">
              <a:lnSpc>
                <a:spcPct val="96000"/>
              </a:lnSpc>
              <a:spcBef>
                <a:spcPts val="0"/>
              </a:spcBef>
            </a:pPr>
            <a:r>
              <a:rPr sz="2200" kern="0" spc="-6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季羡林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2387612" y="19678699"/>
            <a:ext cx="901700" cy="419100"/>
          </a:xfrm>
          <a:prstGeom prst="rect">
            <a:avLst/>
          </a:prstGeom>
          <a:solidFill>
            <a:srgbClr val="F4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1765" algn="l" rtl="0" eaLnBrk="0">
              <a:lnSpc>
                <a:spcPct val="96000"/>
              </a:lnSpc>
              <a:spcBef>
                <a:spcPts val="5"/>
              </a:spcBef>
            </a:pPr>
            <a:r>
              <a:rPr sz="2200" kern="0" spc="-4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刘备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520727" y="18459412"/>
            <a:ext cx="876300" cy="394334"/>
          </a:xfrm>
          <a:prstGeom prst="rect">
            <a:avLst/>
          </a:prstGeom>
          <a:solidFill>
            <a:srgbClr val="F5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165" algn="l" rtl="0" eaLnBrk="0">
              <a:lnSpc>
                <a:spcPct val="97000"/>
              </a:lnSpc>
              <a:spcBef>
                <a:spcPts val="0"/>
              </a:spcBef>
            </a:pPr>
            <a:r>
              <a:rPr sz="2200" kern="0" spc="-40" dirty="0">
                <a:solidFill>
                  <a:srgbClr val="F07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孔子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4"/>
          <p:cNvGrpSpPr/>
          <p:nvPr/>
        </p:nvGrpSpPr>
        <p:grpSpPr>
          <a:xfrm rot="21600000">
            <a:off x="361965" y="7372243"/>
            <a:ext cx="6039489" cy="3175045"/>
            <a:chOff x="0" y="0"/>
            <a:chExt cx="6039489" cy="3175045"/>
          </a:xfrm>
        </p:grpSpPr>
        <p:pic>
          <p:nvPicPr>
            <p:cNvPr id="180" name="picture 18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1079568"/>
              <a:ext cx="5962619" cy="2095477"/>
            </a:xfrm>
            <a:prstGeom prst="rect">
              <a:avLst/>
            </a:prstGeom>
          </p:spPr>
        </p:pic>
        <p:sp>
          <p:nvSpPr>
            <p:cNvPr id="182" name="textbox 182"/>
            <p:cNvSpPr/>
            <p:nvPr/>
          </p:nvSpPr>
          <p:spPr>
            <a:xfrm>
              <a:off x="222255" y="2559"/>
              <a:ext cx="5817234" cy="2729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4600"/>
                </a:lnSpc>
              </a:pPr>
              <a:r>
                <a:rPr sz="3800" b="1" kern="0" spc="-350" dirty="0">
                  <a:solidFill>
                    <a:srgbClr val="F0805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性</a:t>
              </a:r>
              <a:r>
                <a:rPr sz="3800" b="1" kern="0" spc="-340" dirty="0">
                  <a:solidFill>
                    <a:srgbClr val="F0805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格优</a:t>
              </a:r>
              <a:r>
                <a:rPr sz="3800" b="1" kern="0" spc="-170" dirty="0">
                  <a:solidFill>
                    <a:srgbClr val="F0805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势</a:t>
              </a:r>
              <a:endParaRPr sz="3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2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580"/>
                </a:spcBef>
              </a:pPr>
              <a:r>
                <a:rPr sz="1900" kern="0" spc="1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慷慨大方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70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在经济方面非常的大方，总是觉得情谊比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50"/>
                </a:lnSpc>
              </a:pPr>
              <a:r>
                <a:rPr sz="1900" kern="0" spc="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金钱更加重要，并不</a:t>
              </a:r>
              <a:r>
                <a:rPr sz="1900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在意花费多少。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186" name="picture 18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33415" cy="520861"/>
            </a:xfrm>
            <a:prstGeom prst="rect">
              <a:avLst/>
            </a:prstGeom>
          </p:spPr>
        </p:pic>
        <p:pic>
          <p:nvPicPr>
            <p:cNvPr id="188" name="picture 18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520659" y="520861"/>
              <a:ext cx="3517948" cy="12687"/>
            </a:xfrm>
            <a:prstGeom prst="rect">
              <a:avLst/>
            </a:prstGeom>
          </p:spPr>
        </p:pic>
      </p:grpSp>
      <p:grpSp>
        <p:nvGrpSpPr>
          <p:cNvPr id="36" name="group 36"/>
          <p:cNvGrpSpPr/>
          <p:nvPr/>
        </p:nvGrpSpPr>
        <p:grpSpPr>
          <a:xfrm rot="21600000">
            <a:off x="361965" y="13411262"/>
            <a:ext cx="6457904" cy="2082789"/>
            <a:chOff x="0" y="0"/>
            <a:chExt cx="6457904" cy="2082789"/>
          </a:xfrm>
        </p:grpSpPr>
        <p:pic>
          <p:nvPicPr>
            <p:cNvPr id="190" name="picture 1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457904" cy="2082789"/>
            </a:xfrm>
            <a:prstGeom prst="rect">
              <a:avLst/>
            </a:prstGeom>
          </p:spPr>
        </p:pic>
        <p:sp>
          <p:nvSpPr>
            <p:cNvPr id="192" name="textbox 192"/>
            <p:cNvSpPr/>
            <p:nvPr/>
          </p:nvSpPr>
          <p:spPr>
            <a:xfrm>
              <a:off x="222255" y="167951"/>
              <a:ext cx="5281295" cy="1471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</a:pPr>
              <a:r>
                <a:rPr sz="1900" kern="0" spc="1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魅力超凡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75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经常找到自己的方式进入领导角色，他们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45"/>
                </a:lnSpc>
              </a:pPr>
              <a:r>
                <a:rPr sz="1900" kern="0" spc="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意志坚定且擅长鼓舞人心</a:t>
              </a:r>
              <a:r>
                <a:rPr sz="19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21600000">
            <a:off x="361965" y="10941052"/>
            <a:ext cx="6457904" cy="2070102"/>
            <a:chOff x="0" y="0"/>
            <a:chExt cx="6457904" cy="2070102"/>
          </a:xfrm>
        </p:grpSpPr>
        <p:pic>
          <p:nvPicPr>
            <p:cNvPr id="194" name="picture 19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6457904" cy="2070102"/>
            </a:xfrm>
            <a:prstGeom prst="rect">
              <a:avLst/>
            </a:prstGeom>
          </p:spPr>
        </p:pic>
        <p:sp>
          <p:nvSpPr>
            <p:cNvPr id="196" name="textbox 196"/>
            <p:cNvSpPr/>
            <p:nvPr/>
          </p:nvSpPr>
          <p:spPr>
            <a:xfrm>
              <a:off x="222255" y="162351"/>
              <a:ext cx="5381625" cy="14776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</a:pPr>
              <a:r>
                <a:rPr sz="1900" kern="0" spc="14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热情关怀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80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通常热情且富有同情心，渴望为他人的</a:t>
              </a:r>
              <a:r>
                <a:rPr sz="1900" kern="0" spc="1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幸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00"/>
                </a:lnSpc>
              </a:pPr>
              <a:r>
                <a:rPr sz="1900" kern="0" spc="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福做贡献，关注情感利益，擅长处理人际关系。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98" name="textbox 198"/>
          <p:cNvSpPr/>
          <p:nvPr/>
        </p:nvSpPr>
        <p:spPr>
          <a:xfrm>
            <a:off x="336577" y="241391"/>
            <a:ext cx="6075045" cy="2253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7215" algn="l" rtl="0" eaLnBrk="0">
              <a:lnSpc>
                <a:spcPct val="96000"/>
              </a:lnSpc>
              <a:spcBef>
                <a:spcPts val="0"/>
              </a:spcBef>
              <a:tabLst>
                <a:tab pos="3606165" algn="l"/>
              </a:tabLst>
            </a:pPr>
            <a:r>
              <a:rPr sz="3500" u="sng" kern="0" spc="0" dirty="0">
                <a:solidFill>
                  <a:srgbClr val="E0806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500" kern="0" spc="-1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500" b="1" kern="0" spc="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人生关键词</a:t>
            </a:r>
            <a:endParaRPr sz="3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8000"/>
              </a:lnSpc>
              <a:spcBef>
                <a:spcPts val="730"/>
              </a:spcBef>
            </a:pPr>
            <a:r>
              <a:rPr sz="2400" b="1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捍卫正义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3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天生具备正义感，始终坚定地与他们所认定的错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误之事抗衡。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49277" y="254091"/>
            <a:ext cx="565099" cy="571394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 rot="21600000">
            <a:off x="361965" y="15862220"/>
            <a:ext cx="5975306" cy="2108384"/>
            <a:chOff x="0" y="0"/>
            <a:chExt cx="5975306" cy="2108384"/>
          </a:xfrm>
        </p:grpSpPr>
        <p:pic>
          <p:nvPicPr>
            <p:cNvPr id="202" name="picture 20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975306" cy="2108384"/>
            </a:xfrm>
            <a:prstGeom prst="rect">
              <a:avLst/>
            </a:prstGeom>
          </p:spPr>
        </p:pic>
        <p:sp>
          <p:nvSpPr>
            <p:cNvPr id="204" name="textbox 204"/>
            <p:cNvSpPr/>
            <p:nvPr/>
          </p:nvSpPr>
          <p:spPr>
            <a:xfrm>
              <a:off x="-12700" y="-12700"/>
              <a:ext cx="6000750" cy="2134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7650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900" kern="0" spc="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道德感很强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7650" algn="l" rtl="0" eaLnBrk="0">
                <a:lnSpc>
                  <a:spcPct val="87000"/>
                </a:lnSpc>
                <a:spcBef>
                  <a:spcPts val="575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通常很有礼貌，不说脏话，内心渴望</a:t>
              </a:r>
              <a:r>
                <a:rPr sz="1900" kern="0" spc="1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构建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47650" algn="l" rtl="0" eaLnBrk="0">
                <a:lnSpc>
                  <a:spcPts val="3485"/>
                </a:lnSpc>
              </a:pPr>
              <a:r>
                <a:rPr sz="1900" kern="0" spc="-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一个大同世界。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21600000">
            <a:off x="361965" y="18357806"/>
            <a:ext cx="5988062" cy="2057414"/>
            <a:chOff x="0" y="0"/>
            <a:chExt cx="5988062" cy="2057414"/>
          </a:xfrm>
        </p:grpSpPr>
        <p:pic>
          <p:nvPicPr>
            <p:cNvPr id="206" name="picture 20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988062" cy="2057414"/>
            </a:xfrm>
            <a:prstGeom prst="rect">
              <a:avLst/>
            </a:prstGeom>
          </p:spPr>
        </p:pic>
        <p:sp>
          <p:nvSpPr>
            <p:cNvPr id="208" name="textbox 208"/>
            <p:cNvSpPr/>
            <p:nvPr/>
          </p:nvSpPr>
          <p:spPr>
            <a:xfrm>
              <a:off x="-12700" y="-12700"/>
              <a:ext cx="6014084" cy="20834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7650" algn="l" rtl="0" eaLnBrk="0">
                <a:lnSpc>
                  <a:spcPct val="98000"/>
                </a:lnSpc>
              </a:pPr>
              <a:r>
                <a:rPr sz="1900" kern="0" spc="1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责任感强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7650" algn="l" rtl="0" eaLnBrk="0">
                <a:lnSpc>
                  <a:spcPct val="87000"/>
                </a:lnSpc>
                <a:spcBef>
                  <a:spcPts val="580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通常是非常可靠的，</a:t>
              </a:r>
              <a:r>
                <a:rPr sz="1900" kern="0" spc="6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一旦做出承诺，就</a:t>
              </a:r>
              <a:r>
                <a:rPr sz="1900" kern="0" spc="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愿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47650" algn="l" rtl="0" eaLnBrk="0">
                <a:lnSpc>
                  <a:spcPts val="3485"/>
                </a:lnSpc>
              </a:pPr>
              <a:r>
                <a:rPr sz="1900" kern="0" spc="-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意自觉背负责任感。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210" name="textbox 210"/>
          <p:cNvSpPr/>
          <p:nvPr/>
        </p:nvSpPr>
        <p:spPr>
          <a:xfrm>
            <a:off x="336577" y="3005216"/>
            <a:ext cx="5891529" cy="1155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8000"/>
              </a:lnSpc>
            </a:pPr>
            <a:r>
              <a:rPr sz="2400" b="1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鼓舞人心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1000"/>
              </a:lnSpc>
              <a:spcBef>
                <a:spcPts val="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真诚且富有爱心，言行高度一致，能激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励他人做正确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的事是他们最高兴的事情之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336577" y="4680625"/>
            <a:ext cx="5636259" cy="1165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8000"/>
              </a:lnSpc>
            </a:pPr>
            <a:r>
              <a:rPr sz="2400" b="1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利他主义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1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忠实的利他主义者，为了捍卫自己所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信奉的人和理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念，甘愿承受各种攻击与指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责。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3111530" y="20978643"/>
            <a:ext cx="3289934" cy="1046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800" kern="0" spc="-7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PERSONALITY</a:t>
            </a:r>
            <a:r>
              <a:rPr sz="1800" kern="0" spc="11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7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DISADV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3500" b="1" kern="0" spc="0" dirty="0">
                <a:solidFill>
                  <a:srgbClr val="F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性格劣势</a:t>
            </a:r>
            <a:endParaRPr sz="3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3657632" y="6938860"/>
            <a:ext cx="2741929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1800" kern="0" spc="-7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CHARACTER</a:t>
            </a:r>
            <a:r>
              <a:rPr sz="1800" kern="0" spc="-8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STRENGTHS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48" name="picture 2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61965" y="21444036"/>
            <a:ext cx="520659" cy="5206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4"/>
          <p:cNvGrpSpPr/>
          <p:nvPr/>
        </p:nvGrpSpPr>
        <p:grpSpPr>
          <a:xfrm rot="21600000">
            <a:off x="355587" y="476192"/>
            <a:ext cx="6464282" cy="7924801"/>
            <a:chOff x="0" y="0"/>
            <a:chExt cx="6464282" cy="7924801"/>
          </a:xfrm>
        </p:grpSpPr>
        <p:pic>
          <p:nvPicPr>
            <p:cNvPr id="250" name="picture 25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6464282" cy="7924801"/>
            </a:xfrm>
            <a:prstGeom prst="rect">
              <a:avLst/>
            </a:prstGeom>
          </p:spPr>
        </p:pic>
        <p:sp>
          <p:nvSpPr>
            <p:cNvPr id="252" name="textbox 252"/>
            <p:cNvSpPr/>
            <p:nvPr/>
          </p:nvSpPr>
          <p:spPr>
            <a:xfrm>
              <a:off x="247629" y="465447"/>
              <a:ext cx="5407025" cy="68872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</a:pPr>
              <a:r>
                <a:rPr sz="1900" kern="0" spc="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自我牺牲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75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倾向于为他人需要牺牲自己的需求欲望，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30"/>
                </a:lnSpc>
              </a:pPr>
              <a:r>
                <a:rPr sz="1900" kern="0" spc="-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忽视了自身的健康。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575"/>
                </a:spcBef>
              </a:pPr>
              <a:r>
                <a:rPr sz="1900" kern="0" spc="1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控制欲强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4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70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通常希望帮助他人改进和成长，</a:t>
              </a:r>
              <a:r>
                <a:rPr sz="1900" kern="0" spc="1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可能导致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30"/>
                </a:lnSpc>
              </a:pPr>
              <a:r>
                <a:rPr sz="1900" kern="0" spc="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过度干涉他人的生活和决策。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575"/>
                </a:spcBef>
              </a:pPr>
              <a:r>
                <a:rPr sz="1900" kern="0" spc="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过分善解人意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80"/>
                </a:spcBef>
              </a:pPr>
              <a:r>
                <a:rPr sz="1900" kern="0" spc="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同情心本是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900" kern="0" spc="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的最大优势之一</a:t>
              </a:r>
              <a:r>
                <a:rPr sz="1900" kern="0" spc="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，但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-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900" kern="0" spc="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往往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154000"/>
                </a:lnSpc>
                <a:spcBef>
                  <a:spcPts val="10"/>
                </a:spcBef>
              </a:pP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倾向把别人的问题当作自己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的问题，这种习惯会</a:t>
              </a:r>
              <a:r>
                <a:rPr sz="1900" kern="0" spc="-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让他们身心疲惫。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21600000">
            <a:off x="368274" y="11118849"/>
            <a:ext cx="6451595" cy="2508339"/>
            <a:chOff x="0" y="0"/>
            <a:chExt cx="6451595" cy="2508339"/>
          </a:xfrm>
        </p:grpSpPr>
        <p:pic>
          <p:nvPicPr>
            <p:cNvPr id="254" name="picture 2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451595" cy="2508339"/>
            </a:xfrm>
            <a:prstGeom prst="rect">
              <a:avLst/>
            </a:prstGeom>
          </p:spPr>
        </p:pic>
        <p:sp>
          <p:nvSpPr>
            <p:cNvPr id="256" name="textbox 256"/>
            <p:cNvSpPr/>
            <p:nvPr/>
          </p:nvSpPr>
          <p:spPr>
            <a:xfrm>
              <a:off x="234942" y="164296"/>
              <a:ext cx="5126354" cy="19926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9000"/>
                </a:lnSpc>
              </a:pPr>
              <a:r>
                <a:rPr sz="1900" kern="0" spc="1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苛求他人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2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80"/>
                </a:spcBef>
              </a:pPr>
              <a:r>
                <a:rPr sz="1900" kern="0" spc="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在自我提升方面，</a:t>
              </a:r>
              <a:r>
                <a:rPr sz="1900" kern="0" spc="-4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-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900" kern="0" spc="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拥有强烈的精</a:t>
              </a:r>
              <a:r>
                <a:rPr sz="1900" kern="0" spc="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力或决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167000"/>
                </a:lnSpc>
                <a:spcBef>
                  <a:spcPts val="5"/>
                </a:spcBef>
              </a:pP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心，但他们倾向于把同样的标准强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加在别人身</a:t>
              </a:r>
              <a:r>
                <a:rPr sz="1900" kern="0" spc="-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-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上</a:t>
              </a:r>
              <a:r>
                <a:rPr sz="1900" kern="0" spc="-4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900" kern="0" spc="-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 rot="21600000">
            <a:off x="368274" y="8648780"/>
            <a:ext cx="6438906" cy="2070066"/>
            <a:chOff x="0" y="0"/>
            <a:chExt cx="6438906" cy="2070066"/>
          </a:xfrm>
        </p:grpSpPr>
        <p:pic>
          <p:nvPicPr>
            <p:cNvPr id="258" name="picture 25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438906" cy="2070066"/>
            </a:xfrm>
            <a:prstGeom prst="rect">
              <a:avLst/>
            </a:prstGeom>
          </p:spPr>
        </p:pic>
        <p:sp>
          <p:nvSpPr>
            <p:cNvPr id="260" name="textbox 260"/>
            <p:cNvSpPr/>
            <p:nvPr/>
          </p:nvSpPr>
          <p:spPr>
            <a:xfrm>
              <a:off x="234942" y="162314"/>
              <a:ext cx="5003165" cy="1471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</a:pPr>
              <a:r>
                <a:rPr sz="1900" kern="0" spc="1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容易内耗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3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575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在被别人讨厌、冷落时，或者情感受挫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ts val="3450"/>
                </a:lnSpc>
              </a:pPr>
              <a:r>
                <a:rPr sz="1900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时，会首先自我怀疑，从而陷入内耗。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262" name="textbox 262"/>
          <p:cNvSpPr/>
          <p:nvPr/>
        </p:nvSpPr>
        <p:spPr>
          <a:xfrm>
            <a:off x="603216" y="17319159"/>
            <a:ext cx="5389245" cy="1671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具有的理想主义可能会导致他们对潜在利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0000"/>
              </a:lnSpc>
              <a:spcBef>
                <a:spcPts val="3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益的过度期待，在受到现实暴击之后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，学会从更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宏观的角度看待问题，反复去面对困难，战胜困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难，从中学习，用受益者心态面对所有。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603216" y="20622350"/>
            <a:ext cx="5381625" cy="1225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的个性导致在他们面对压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力时，情愿过度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3000"/>
              </a:lnSpc>
              <a:spcBef>
                <a:spcPts val="3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承担责任，试图满足所有人的期望，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几乎给自己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带来巨大负担。想要改变的话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，需要学会设定合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342887" y="14228756"/>
            <a:ext cx="6045834" cy="1029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1800" kern="0" spc="-60" dirty="0">
                <a:solidFill>
                  <a:srgbClr val="E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ADVANCED GUIDE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9115" algn="l" rtl="0" eaLnBrk="0">
              <a:lnSpc>
                <a:spcPct val="98000"/>
              </a:lnSpc>
              <a:tabLst>
                <a:tab pos="4057650" algn="l"/>
              </a:tabLst>
            </a:pPr>
            <a:r>
              <a:rPr sz="3400" u="sng" kern="0" spc="0" dirty="0">
                <a:solidFill>
                  <a:srgbClr val="F0806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400" kern="0" spc="-23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400" b="1" kern="0" spc="10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进阶指南</a:t>
            </a:r>
            <a:endParaRPr sz="3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68" name="picture 2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5587" y="14630437"/>
            <a:ext cx="527037" cy="533408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 rot="21600000">
            <a:off x="368274" y="19430899"/>
            <a:ext cx="2578127" cy="825518"/>
            <a:chOff x="0" y="0"/>
            <a:chExt cx="2578127" cy="825518"/>
          </a:xfrm>
        </p:grpSpPr>
        <p:pic>
          <p:nvPicPr>
            <p:cNvPr id="270" name="picture 2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578127" cy="825518"/>
            </a:xfrm>
            <a:prstGeom prst="rect">
              <a:avLst/>
            </a:prstGeom>
          </p:spPr>
        </p:pic>
        <p:sp>
          <p:nvSpPr>
            <p:cNvPr id="272" name="textbox 272"/>
            <p:cNvSpPr/>
            <p:nvPr/>
          </p:nvSpPr>
          <p:spPr>
            <a:xfrm>
              <a:off x="-12700" y="-12700"/>
              <a:ext cx="2604135" cy="882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3515" algn="l" rtl="0" eaLnBrk="0">
                <a:lnSpc>
                  <a:spcPct val="98000"/>
                </a:lnSpc>
              </a:pPr>
              <a:r>
                <a:rPr sz="1900" kern="0" spc="1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抛掉无谓的负罪感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21600000">
            <a:off x="355587" y="16084500"/>
            <a:ext cx="2317729" cy="825518"/>
            <a:chOff x="0" y="0"/>
            <a:chExt cx="2317729" cy="825518"/>
          </a:xfrm>
        </p:grpSpPr>
        <p:pic>
          <p:nvPicPr>
            <p:cNvPr id="274" name="picture 27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317729" cy="825518"/>
            </a:xfrm>
            <a:prstGeom prst="rect">
              <a:avLst/>
            </a:prstGeom>
          </p:spPr>
        </p:pic>
        <p:sp>
          <p:nvSpPr>
            <p:cNvPr id="276" name="textbox 276"/>
            <p:cNvSpPr/>
            <p:nvPr/>
          </p:nvSpPr>
          <p:spPr>
            <a:xfrm>
              <a:off x="-12700" y="-12700"/>
              <a:ext cx="2343150" cy="8877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6215" algn="l" rtl="0" eaLnBrk="0">
                <a:lnSpc>
                  <a:spcPct val="97000"/>
                </a:lnSpc>
                <a:spcBef>
                  <a:spcPts val="5"/>
                </a:spcBef>
              </a:pPr>
              <a:r>
                <a:rPr sz="2200" kern="0" spc="-1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发展受益者思维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2"/>
          <p:cNvGrpSpPr/>
          <p:nvPr/>
        </p:nvGrpSpPr>
        <p:grpSpPr>
          <a:xfrm rot="21600000">
            <a:off x="368274" y="11541089"/>
            <a:ext cx="6470693" cy="5622873"/>
            <a:chOff x="0" y="330110"/>
            <a:chExt cx="6470693" cy="5622873"/>
          </a:xfrm>
        </p:grpSpPr>
        <p:pic>
          <p:nvPicPr>
            <p:cNvPr id="302" name="picture 30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1079389"/>
              <a:ext cx="5988062" cy="844711"/>
            </a:xfrm>
            <a:prstGeom prst="rect">
              <a:avLst/>
            </a:prstGeom>
          </p:spPr>
        </p:pic>
        <p:sp>
          <p:nvSpPr>
            <p:cNvPr id="304" name="textbox 304"/>
            <p:cNvSpPr/>
            <p:nvPr/>
          </p:nvSpPr>
          <p:spPr>
            <a:xfrm>
              <a:off x="355643" y="330110"/>
              <a:ext cx="6115050" cy="51695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3365" algn="l" rtl="0" eaLnBrk="0">
                <a:lnSpc>
                  <a:spcPct val="90000"/>
                </a:lnSpc>
                <a:spcBef>
                  <a:spcPts val="5"/>
                </a:spcBef>
              </a:pPr>
              <a:r>
                <a:rPr sz="2400" kern="0" spc="-1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主导功能：</a:t>
              </a:r>
              <a:r>
                <a:rPr sz="2600" kern="0" spc="-17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</a:t>
              </a:r>
              <a:r>
                <a:rPr sz="2600" kern="0" spc="3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-1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(外倾情感)</a:t>
              </a:r>
              <a:r>
                <a:rPr sz="2400" kern="0" spc="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     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5000"/>
                </a:lnSpc>
                <a:spcBef>
                  <a:spcPts val="570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-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的主导功能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使他们对他人的情感和需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157000"/>
                </a:lnSpc>
                <a:spcBef>
                  <a:spcPts val="65"/>
                </a:spcBef>
              </a:pP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求有着极其敏锐的感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知。他们能够迅速捕捉到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</a:t>
              </a: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群体中的情感氛围，并致力于营造和谐、积极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</a:t>
              </a:r>
              <a:r>
                <a:rPr sz="1900" kern="0" spc="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的人际关系环境。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5000"/>
                </a:lnSpc>
                <a:spcBef>
                  <a:spcPts val="575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主导的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往往具有很强的感染力和说服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160000"/>
                </a:lnSpc>
                <a:spcBef>
                  <a:spcPts val="20"/>
                </a:spcBef>
              </a:pPr>
              <a:r>
                <a:rPr sz="1900" kern="0" spc="1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力，能够通过情感连接激</a:t>
              </a: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励和引导他人，在团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队中常常成为天然的领导者和协调者。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312" name="picture 3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013506" y="1784279"/>
              <a:ext cx="12687" cy="4064035"/>
            </a:xfrm>
            <a:prstGeom prst="rect">
              <a:avLst/>
            </a:prstGeom>
          </p:spPr>
        </p:pic>
        <p:pic>
          <p:nvPicPr>
            <p:cNvPr id="314" name="picture 3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76192" y="5946633"/>
              <a:ext cx="5848365" cy="6350"/>
            </a:xfrm>
            <a:prstGeom prst="rect">
              <a:avLst/>
            </a:prstGeom>
          </p:spPr>
        </p:pic>
      </p:grpSp>
      <p:sp>
        <p:nvSpPr>
          <p:cNvPr id="316" name="textbox 316"/>
          <p:cNvSpPr/>
          <p:nvPr/>
        </p:nvSpPr>
        <p:spPr>
          <a:xfrm>
            <a:off x="723917" y="18915431"/>
            <a:ext cx="5132070" cy="278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提供了对未来的洞察力和前瞻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性思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2000"/>
              </a:lnSpc>
              <a:spcBef>
                <a:spcPts val="1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维。他们能够看到潜在的可能性和发展趋势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从而为团队或个人规划出富有远见的方向。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58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</a:t>
            </a:r>
            <a:r>
              <a:rPr sz="1900" kern="0" spc="-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相结合，使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在理解他人的同时，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6000"/>
              </a:lnSpc>
              <a:spcBef>
                <a:spcPts val="5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能够为大家描绘出令人向往的未来蓝图，并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激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励大家朝着这个方向努力。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609594" y="7271453"/>
            <a:ext cx="5386704" cy="2127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在工作和生活里倾向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于追求确定性，期望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0000"/>
              </a:lnSpc>
              <a:spcBef>
                <a:spcPts val="2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事情具备清晰的因果导向和可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控性。然而，事物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通常不会依照人们的预期去进展，所以在更多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时候，需要接纳这种不确定性。实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际上，确定性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本身相当可怕，唯有维持不确定性才会有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生机。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609594" y="3429675"/>
            <a:ext cx="5382259" cy="2127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首先要关注自我，明确自身优势与价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6000"/>
              </a:lnSpc>
              <a:spcBef>
                <a:spcPts val="22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勇于表达真实想法，不惧怕他人反对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。设定切实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可行的目标，每达成一个就给予自己积极反馈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多从成功经验中汲取力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量，不断强化积极的自我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认知，从而逐步建立稳固且健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康的自信。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2" name="textbox 322"/>
          <p:cNvSpPr/>
          <p:nvPr/>
        </p:nvSpPr>
        <p:spPr>
          <a:xfrm>
            <a:off x="2165332" y="9718696"/>
            <a:ext cx="4686934" cy="1519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"/>
              </a:spcBef>
            </a:pPr>
            <a:r>
              <a:rPr sz="1800" kern="0" spc="-4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EIGHT-DIMENS</a:t>
            </a:r>
            <a:r>
              <a:rPr sz="1800" kern="0" spc="-5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IONAL</a:t>
            </a:r>
            <a:r>
              <a:rPr sz="1800" kern="0" spc="14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5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INTERPRETATION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609594" y="540526"/>
            <a:ext cx="5374640" cy="1254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理的边界，明确自身能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力范围。在压力下保持冷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9000"/>
              </a:lnSpc>
              <a:spcBef>
                <a:spcPts val="40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静，分析问题根源。培养放松的技巧，如冥想、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运动等。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381030" y="17745127"/>
            <a:ext cx="5988050" cy="819150"/>
          </a:xfrm>
          <a:prstGeom prst="rect">
            <a:avLst/>
          </a:prstGeom>
          <a:solidFill>
            <a:srgbClr val="8964C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21665" algn="l" rtl="0" eaLnBrk="0">
              <a:lnSpc>
                <a:spcPts val="3270"/>
              </a:lnSpc>
              <a:spcBef>
                <a:spcPts val="0"/>
              </a:spcBef>
            </a:pPr>
            <a:r>
              <a:rPr sz="2400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辅助功能：</a:t>
            </a:r>
            <a:r>
              <a:rPr sz="2400" kern="0" spc="-1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</a:t>
            </a:r>
            <a:r>
              <a:rPr sz="2400" kern="0" spc="4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-1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400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内倾直觉</a:t>
            </a:r>
            <a:r>
              <a:rPr sz="2400" kern="0" spc="-1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355574" y="11198279"/>
            <a:ext cx="6043295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6100" algn="l" rtl="0" eaLnBrk="0">
              <a:lnSpc>
                <a:spcPct val="85000"/>
              </a:lnSpc>
              <a:spcBef>
                <a:spcPts val="0"/>
              </a:spcBef>
              <a:tabLst>
                <a:tab pos="4038600" algn="l"/>
              </a:tabLst>
            </a:pPr>
            <a:r>
              <a:rPr sz="3900" u="sng" kern="0" spc="0" dirty="0">
                <a:solidFill>
                  <a:srgbClr val="E0806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900" kern="0" spc="-43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900" kern="0" spc="-44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八</a:t>
            </a:r>
            <a:r>
              <a:rPr sz="3900" b="1" kern="0" spc="-44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维解</a:t>
            </a:r>
            <a:r>
              <a:rPr sz="3900" b="1" kern="0" spc="-20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读</a:t>
            </a:r>
            <a:endParaRPr sz="3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8274" y="11210979"/>
            <a:ext cx="533415" cy="520744"/>
          </a:xfrm>
          <a:prstGeom prst="rect">
            <a:avLst/>
          </a:prstGeom>
        </p:spPr>
      </p:pic>
      <p:grpSp>
        <p:nvGrpSpPr>
          <p:cNvPr id="74" name="group 74"/>
          <p:cNvGrpSpPr/>
          <p:nvPr/>
        </p:nvGrpSpPr>
        <p:grpSpPr>
          <a:xfrm rot="21600000">
            <a:off x="368274" y="6035651"/>
            <a:ext cx="2051090" cy="825439"/>
            <a:chOff x="0" y="0"/>
            <a:chExt cx="2051090" cy="825439"/>
          </a:xfrm>
        </p:grpSpPr>
        <p:pic>
          <p:nvPicPr>
            <p:cNvPr id="334" name="picture 3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051090" cy="825439"/>
            </a:xfrm>
            <a:prstGeom prst="rect">
              <a:avLst/>
            </a:prstGeom>
          </p:spPr>
        </p:pic>
        <p:sp>
          <p:nvSpPr>
            <p:cNvPr id="336" name="textbox 336"/>
            <p:cNvSpPr/>
            <p:nvPr/>
          </p:nvSpPr>
          <p:spPr>
            <a:xfrm>
              <a:off x="-12700" y="-12700"/>
              <a:ext cx="2077085" cy="8839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0" algn="l" rtl="0" eaLnBrk="0">
                <a:lnSpc>
                  <a:spcPct val="96000"/>
                </a:lnSpc>
              </a:pPr>
              <a:r>
                <a:rPr sz="1900" kern="0" spc="14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接受不确定性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 rot="21600000">
            <a:off x="368274" y="2212930"/>
            <a:ext cx="1543050" cy="825439"/>
            <a:chOff x="0" y="0"/>
            <a:chExt cx="1543050" cy="825439"/>
          </a:xfrm>
        </p:grpSpPr>
        <p:pic>
          <p:nvPicPr>
            <p:cNvPr id="338" name="picture 33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543050" cy="825439"/>
            </a:xfrm>
            <a:prstGeom prst="rect">
              <a:avLst/>
            </a:prstGeom>
          </p:spPr>
        </p:pic>
        <p:sp>
          <p:nvSpPr>
            <p:cNvPr id="340" name="textbox 340"/>
            <p:cNvSpPr/>
            <p:nvPr/>
          </p:nvSpPr>
          <p:spPr>
            <a:xfrm>
              <a:off x="-12700" y="-12700"/>
              <a:ext cx="1568450" cy="8909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0" algn="l" rtl="0" eaLnBrk="0">
                <a:lnSpc>
                  <a:spcPct val="96000"/>
                </a:lnSpc>
              </a:pPr>
              <a:r>
                <a:rPr sz="2200" kern="0" spc="-1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建立自信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374" name="picture 3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5587" y="12995258"/>
            <a:ext cx="12687" cy="4089515"/>
          </a:xfrm>
          <a:prstGeom prst="rect">
            <a:avLst/>
          </a:prstGeom>
        </p:spPr>
      </p:pic>
      <p:pic>
        <p:nvPicPr>
          <p:cNvPr id="376" name="picture 37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55587" y="17846620"/>
            <a:ext cx="12687" cy="3898946"/>
          </a:xfrm>
          <a:prstGeom prst="rect">
            <a:avLst/>
          </a:prstGeom>
        </p:spPr>
      </p:pic>
      <p:pic>
        <p:nvPicPr>
          <p:cNvPr id="378" name="picture 37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381780" y="17859468"/>
            <a:ext cx="12687" cy="38860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picture 3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49277" y="15611533"/>
            <a:ext cx="6483347" cy="6369003"/>
          </a:xfrm>
          <a:prstGeom prst="rect">
            <a:avLst/>
          </a:prstGeom>
        </p:spPr>
      </p:pic>
      <p:graphicFrame>
        <p:nvGraphicFramePr>
          <p:cNvPr id="382" name="table 382"/>
          <p:cNvGraphicFramePr>
            <a:graphicFrameLocks noGrp="1"/>
          </p:cNvGraphicFramePr>
          <p:nvPr/>
        </p:nvGraphicFramePr>
        <p:xfrm>
          <a:off x="546101" y="16338301"/>
          <a:ext cx="6209029" cy="5647054"/>
        </p:xfrm>
        <a:graphic>
          <a:graphicData uri="http://schemas.openxmlformats.org/drawingml/2006/table">
            <a:tbl>
              <a:tblPr/>
              <a:tblGrid>
                <a:gridCol w="5693409"/>
                <a:gridCol w="515619"/>
              </a:tblGrid>
              <a:tr h="3225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</a:pPr>
                      <a:r>
                        <a:rPr sz="24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24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的职业性格</a:t>
                      </a:r>
                      <a:endParaRPr sz="2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8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4660"/>
                        </a:lnSpc>
                      </a:pP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报告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0090F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优势：</a:t>
                      </a:r>
                      <a:r>
                        <a:rPr sz="2200" kern="0" spc="90" dirty="0">
                          <a:solidFill>
                            <a:srgbClr val="1080E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领导才能、掌控全局</a:t>
                      </a:r>
                      <a:endParaRPr sz="2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87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147000"/>
                        </a:lnSpc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19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与生俱来就拥有卓越的领导能</a:t>
                      </a:r>
                      <a:r>
                        <a:rPr sz="1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力，能够凭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借积极且热情的姿态带领团队向前迈进。他们善</a:t>
                      </a:r>
                      <a:r>
                        <a:rPr sz="1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于激发并鼓励团队成员将自身最大的潜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能发挥出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来。他们精于协调各类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资源与关系，制定详细的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计划统揽全局，以此保障工作能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够顺畅开展。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710" algn="l" rtl="0" eaLnBrk="0">
                        <a:lnSpc>
                          <a:spcPct val="97000"/>
                        </a:lnSpc>
                        <a:spcBef>
                          <a:spcPts val="720"/>
                        </a:spcBef>
                      </a:pPr>
                      <a:r>
                        <a:rPr sz="2400" b="1" kern="0" spc="-110" dirty="0">
                          <a:solidFill>
                            <a:srgbClr val="1080E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劣势：</a:t>
                      </a:r>
                      <a:r>
                        <a:rPr sz="2400" b="1" kern="0" spc="-110" dirty="0">
                          <a:solidFill>
                            <a:srgbClr val="0090F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抗压较弱、感性决策</a:t>
                      </a:r>
                      <a:endParaRPr sz="2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87000"/>
                        </a:lnSpc>
                        <a:spcBef>
                          <a:spcPts val="570"/>
                        </a:spcBef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在竞争激烈、氛围紧张的工作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环境中会感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88265" algn="l" rtl="0" eaLnBrk="0">
                        <a:lnSpc>
                          <a:spcPts val="3525"/>
                        </a:lnSpc>
                      </a:pP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到不适，长期处于高强度的工作状态可能致使他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</a:pPr>
                      <a:r>
                        <a:rPr sz="19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维</a:t>
                      </a:r>
                      <a:r>
                        <a:rPr sz="19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    </a:t>
                      </a:r>
                      <a:r>
                        <a:rPr sz="19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</a:t>
                      </a:r>
                      <a:r>
                        <a:rPr sz="2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职场优势</a:t>
                      </a:r>
                      <a:endParaRPr sz="2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eaVer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84" name="textbox 384"/>
          <p:cNvSpPr/>
          <p:nvPr/>
        </p:nvSpPr>
        <p:spPr>
          <a:xfrm>
            <a:off x="622282" y="2248549"/>
            <a:ext cx="5109209" cy="2787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让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能够充分享受当下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的现实体验，对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5000"/>
              </a:lnSpc>
              <a:spcBef>
                <a:spcPts val="25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周围的环境和细节有一定的关注，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使他们在行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动中更具现实性和灵活性。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也使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能够更好地适应外部变化，及时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5000"/>
              </a:lnSpc>
              <a:spcBef>
                <a:spcPts val="40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调整策略和行动，但有时可能会过于追求当下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的刺激和享受。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6" name="textbox 386"/>
          <p:cNvSpPr/>
          <p:nvPr/>
        </p:nvSpPr>
        <p:spPr>
          <a:xfrm>
            <a:off x="622282" y="7220599"/>
            <a:ext cx="5233670" cy="2294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带来了一定的内在逻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辑分析能力，帮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5000"/>
              </a:lnSpc>
              <a:spcBef>
                <a:spcPts val="2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助他们在做决策和判断时进行理性思考，对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己的情感判断进行一定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的审视和平衡。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70"/>
              </a:spcBef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然而，与以思维功能为主导的类型相比，</a:t>
            </a:r>
            <a:r>
              <a:rPr sz="1900" kern="0" spc="-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635"/>
              </a:lnSpc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在运用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时可能相对不够深入和系统。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92" name="group 92"/>
          <p:cNvGrpSpPr/>
          <p:nvPr/>
        </p:nvGrpSpPr>
        <p:grpSpPr>
          <a:xfrm rot="21600000">
            <a:off x="374652" y="6029362"/>
            <a:ext cx="5994371" cy="831738"/>
            <a:chOff x="0" y="0"/>
            <a:chExt cx="5994371" cy="831738"/>
          </a:xfrm>
        </p:grpSpPr>
        <p:pic>
          <p:nvPicPr>
            <p:cNvPr id="392" name="picture 3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994371" cy="831738"/>
            </a:xfrm>
            <a:prstGeom prst="rect">
              <a:avLst/>
            </a:prstGeom>
          </p:spPr>
        </p:pic>
        <p:sp>
          <p:nvSpPr>
            <p:cNvPr id="394" name="textbox 394"/>
            <p:cNvSpPr/>
            <p:nvPr/>
          </p:nvSpPr>
          <p:spPr>
            <a:xfrm>
              <a:off x="-12700" y="-12700"/>
              <a:ext cx="6019800" cy="8972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22300" algn="l" rtl="0" eaLnBrk="0">
                <a:lnSpc>
                  <a:spcPct val="97000"/>
                </a:lnSpc>
                <a:spcBef>
                  <a:spcPts val="0"/>
                </a:spcBef>
              </a:pPr>
              <a:r>
                <a:rPr sz="2400" kern="0" spc="-1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盲点功能：</a:t>
              </a:r>
              <a:r>
                <a:rPr sz="2400" kern="0" spc="-1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Ti </a:t>
              </a:r>
              <a:r>
                <a:rPr sz="2400" kern="0" spc="-1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(内倾</a:t>
              </a:r>
              <a:r>
                <a:rPr sz="2400" kern="0" spc="-14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思考)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 rot="21600000">
            <a:off x="374652" y="1063656"/>
            <a:ext cx="5975375" cy="806355"/>
            <a:chOff x="0" y="0"/>
            <a:chExt cx="5975375" cy="806355"/>
          </a:xfrm>
        </p:grpSpPr>
        <p:pic>
          <p:nvPicPr>
            <p:cNvPr id="396" name="picture 39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975375" cy="806355"/>
            </a:xfrm>
            <a:prstGeom prst="rect">
              <a:avLst/>
            </a:prstGeom>
          </p:spPr>
        </p:pic>
        <p:sp>
          <p:nvSpPr>
            <p:cNvPr id="398" name="textbox 398"/>
            <p:cNvSpPr/>
            <p:nvPr/>
          </p:nvSpPr>
          <p:spPr>
            <a:xfrm>
              <a:off x="-12700" y="-12700"/>
              <a:ext cx="6001384" cy="831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38810" algn="l" rtl="0" eaLnBrk="0">
                <a:lnSpc>
                  <a:spcPts val="3340"/>
                </a:lnSpc>
                <a:spcBef>
                  <a:spcPts val="5"/>
                </a:spcBef>
              </a:pPr>
              <a:r>
                <a:rPr sz="2400" b="1" kern="0" spc="-8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防卫功能：</a:t>
              </a:r>
              <a:r>
                <a:rPr sz="2400" kern="0" spc="-8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Se(</a:t>
              </a:r>
              <a:r>
                <a:rPr sz="2400" b="1" kern="0" spc="-8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外倾实感)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400" name="picture 4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4652" y="14506488"/>
            <a:ext cx="4025919" cy="533486"/>
          </a:xfrm>
          <a:prstGeom prst="rect">
            <a:avLst/>
          </a:prstGeom>
        </p:spPr>
      </p:pic>
      <p:sp>
        <p:nvSpPr>
          <p:cNvPr id="402" name="textbox 402"/>
          <p:cNvSpPr/>
          <p:nvPr/>
        </p:nvSpPr>
        <p:spPr>
          <a:xfrm>
            <a:off x="4591053" y="14583283"/>
            <a:ext cx="1819275" cy="540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3500" b="1" kern="0" spc="1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职业探索</a:t>
            </a:r>
            <a:endParaRPr sz="3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2" name="textbox 422"/>
          <p:cNvSpPr/>
          <p:nvPr/>
        </p:nvSpPr>
        <p:spPr>
          <a:xfrm>
            <a:off x="3930650" y="14085699"/>
            <a:ext cx="2468879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1800" kern="0" spc="-100" dirty="0">
                <a:solidFill>
                  <a:srgbClr val="F0C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CAREER</a:t>
            </a:r>
            <a:r>
              <a:rPr sz="1800" kern="0" spc="120" dirty="0">
                <a:solidFill>
                  <a:srgbClr val="F0C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100" dirty="0">
                <a:solidFill>
                  <a:srgbClr val="F0C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EXPLORATION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28" name="picture 4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8157" y="5451456"/>
            <a:ext cx="5861052" cy="19036"/>
          </a:xfrm>
          <a:prstGeom prst="rect">
            <a:avLst/>
          </a:prstGeom>
        </p:spPr>
      </p:pic>
      <p:pic>
        <p:nvPicPr>
          <p:cNvPr id="430" name="picture 4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0844" y="9972735"/>
            <a:ext cx="5848365" cy="12691"/>
          </a:xfrm>
          <a:prstGeom prst="rect">
            <a:avLst/>
          </a:prstGeom>
        </p:spPr>
      </p:pic>
      <p:pic>
        <p:nvPicPr>
          <p:cNvPr id="432" name="picture 4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381780" y="1495390"/>
            <a:ext cx="12687" cy="3841839"/>
          </a:xfrm>
          <a:prstGeom prst="rect">
            <a:avLst/>
          </a:prstGeom>
        </p:spPr>
      </p:pic>
      <p:pic>
        <p:nvPicPr>
          <p:cNvPr id="434" name="picture 4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097761" y="12385674"/>
            <a:ext cx="24554" cy="11634"/>
          </a:xfrm>
          <a:prstGeom prst="rect">
            <a:avLst/>
          </a:prstGeom>
        </p:spPr>
      </p:pic>
      <p:pic>
        <p:nvPicPr>
          <p:cNvPr id="436" name="picture 4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58790" y="1196919"/>
            <a:ext cx="6350" cy="4178386"/>
          </a:xfrm>
          <a:prstGeom prst="rect">
            <a:avLst/>
          </a:prstGeom>
        </p:spPr>
      </p:pic>
      <p:pic>
        <p:nvPicPr>
          <p:cNvPr id="438" name="picture 4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58790" y="6168969"/>
            <a:ext cx="6350" cy="3727396"/>
          </a:xfrm>
          <a:prstGeom prst="rect">
            <a:avLst/>
          </a:prstGeom>
        </p:spPr>
      </p:pic>
      <p:pic>
        <p:nvPicPr>
          <p:cNvPr id="440" name="picture 4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58790" y="117475"/>
            <a:ext cx="6350" cy="2857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box 442"/>
          <p:cNvSpPr/>
          <p:nvPr/>
        </p:nvSpPr>
        <p:spPr>
          <a:xfrm>
            <a:off x="615972" y="2738868"/>
            <a:ext cx="5497829" cy="8489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4000"/>
              </a:lnSpc>
            </a:pPr>
            <a:r>
              <a:rPr sz="2400" b="1" kern="0" spc="-18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在团队中，</a:t>
            </a:r>
            <a:r>
              <a:rPr sz="2400" kern="0" spc="-180" dirty="0">
                <a:solidFill>
                  <a:srgbClr val="1080E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2400" b="1" kern="0" spc="-18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通常会：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75"/>
              </a:spcBef>
            </a:pP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提供鼓励与支持。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70"/>
              </a:spcBef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渴望打造一个稳固且富有韧性的团队。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90"/>
              </a:lnSpc>
              <a:spcBef>
                <a:spcPts val="580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鼓励团队成员之间和谐相处。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80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对团队所面临的困难较为敏感。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1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贡献出他们充满热情的态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度和出色的组织能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力</a:t>
            </a:r>
            <a:r>
              <a:rPr sz="1900" kern="0" spc="-4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90"/>
              </a:lnSpc>
              <a:spcBef>
                <a:spcPts val="570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保持充满活力且愉快的态度。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4000"/>
              </a:lnSpc>
              <a:spcBef>
                <a:spcPts val="725"/>
              </a:spcBef>
            </a:pPr>
            <a:r>
              <a:rPr sz="2400" b="1" kern="0" spc="-17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在团队中，</a:t>
            </a:r>
            <a:r>
              <a:rPr sz="2400" b="1" kern="0" spc="-170" dirty="0">
                <a:solidFill>
                  <a:srgbClr val="1080E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2400" b="1" kern="0" spc="-17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应该意识到他们可能会：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  <a:spcBef>
                <a:spcPts val="575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对不愿意共同合作、效率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低下或组织混乱的人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感到沮丧。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0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当他们只关注人际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关系问题、天真地支持某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项事业或某人时，可能会触怒团队成员。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9000"/>
              </a:lnSpc>
              <a:spcBef>
                <a:spcPts val="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对那些迟到、不考虑他人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或只关注任务而忽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视人的团队成员感到恼怒。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4" name="textbox 444"/>
          <p:cNvSpPr/>
          <p:nvPr/>
        </p:nvSpPr>
        <p:spPr>
          <a:xfrm>
            <a:off x="615972" y="14016341"/>
            <a:ext cx="5006975" cy="5165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4000"/>
              </a:lnSpc>
            </a:pPr>
            <a:r>
              <a:rPr sz="2400" b="1" kern="0" spc="-1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作为领导者，</a:t>
            </a:r>
            <a:r>
              <a:rPr sz="2400" kern="0" spc="-190" dirty="0">
                <a:solidFill>
                  <a:srgbClr val="1080E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</a:t>
            </a:r>
            <a:r>
              <a:rPr sz="2400" b="1" kern="0" spc="-190" dirty="0">
                <a:solidFill>
                  <a:srgbClr val="1080E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</a:t>
            </a:r>
            <a:r>
              <a:rPr sz="2400" b="1" kern="0" spc="-1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通常会：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57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满怀热情地展现他们的想法并获取支持。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7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鼓励参与并考量所有的想法。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90"/>
              </a:lnSpc>
              <a:spcBef>
                <a:spcPts val="575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协助他人规划并携手努力实现目标。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75"/>
              </a:spcBef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在对立观点之间构建共识。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90"/>
              </a:lnSpc>
              <a:spcBef>
                <a:spcPts val="575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了解每个成员拥有的的技能和能力。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90"/>
              </a:lnSpc>
              <a:spcBef>
                <a:spcPts val="570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清晰传达完成任务所需要的步骤。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9000"/>
              </a:lnSpc>
              <a:spcBef>
                <a:spcPts val="0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需要有意识地强化与他人之间的规则和界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限</a:t>
            </a:r>
            <a:r>
              <a:rPr sz="1900" kern="0" spc="-3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615972" y="20896372"/>
            <a:ext cx="5255259" cy="954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ts val="2805"/>
              </a:lnSpc>
            </a:pPr>
            <a:r>
              <a:rPr sz="2300" b="1" kern="0" spc="-20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挑战和成长机会：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5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非常重视工作能不能带来成长，所以他们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8" name="textbox 448"/>
          <p:cNvSpPr/>
          <p:nvPr/>
        </p:nvSpPr>
        <p:spPr>
          <a:xfrm>
            <a:off x="615972" y="11532282"/>
            <a:ext cx="5287009" cy="732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需要允许人们做出自己的选择，并从错误中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630"/>
              </a:lnSpc>
            </a:pPr>
            <a:r>
              <a:rPr sz="1800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0" name="textbox 450"/>
          <p:cNvSpPr/>
          <p:nvPr/>
        </p:nvSpPr>
        <p:spPr>
          <a:xfrm>
            <a:off x="615972" y="267552"/>
            <a:ext cx="5380990" cy="695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们心力憔悴。同时在决策时会受到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感情影响，仓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350"/>
              </a:lnSpc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促决策，从而忽视了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更为客观的逻辑分析。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04" name="group 104"/>
          <p:cNvGrpSpPr/>
          <p:nvPr/>
        </p:nvGrpSpPr>
        <p:grpSpPr>
          <a:xfrm rot="21600000">
            <a:off x="368274" y="1603455"/>
            <a:ext cx="3308367" cy="723906"/>
            <a:chOff x="0" y="0"/>
            <a:chExt cx="3308367" cy="723906"/>
          </a:xfrm>
        </p:grpSpPr>
        <p:pic>
          <p:nvPicPr>
            <p:cNvPr id="452" name="picture 45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3308367" cy="723906"/>
            </a:xfrm>
            <a:prstGeom prst="rect">
              <a:avLst/>
            </a:prstGeom>
          </p:spPr>
        </p:pic>
        <p:sp>
          <p:nvSpPr>
            <p:cNvPr id="454" name="textbox 454"/>
            <p:cNvSpPr/>
            <p:nvPr/>
          </p:nvSpPr>
          <p:spPr>
            <a:xfrm>
              <a:off x="-12700" y="-12700"/>
              <a:ext cx="3334384" cy="789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6850" algn="l" rtl="0" eaLnBrk="0">
                <a:lnSpc>
                  <a:spcPct val="97000"/>
                </a:lnSpc>
                <a:spcBef>
                  <a:spcPts val="5"/>
                </a:spcBef>
              </a:pPr>
              <a:r>
                <a:rPr sz="2400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作为团队成员的</a:t>
              </a:r>
              <a:r>
                <a:rPr sz="2400" kern="0" spc="-1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 rot="21600000">
            <a:off x="368274" y="12906419"/>
            <a:ext cx="3308367" cy="723906"/>
            <a:chOff x="0" y="0"/>
            <a:chExt cx="3308367" cy="723906"/>
          </a:xfrm>
        </p:grpSpPr>
        <p:pic>
          <p:nvPicPr>
            <p:cNvPr id="456" name="picture 4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308367" cy="723906"/>
            </a:xfrm>
            <a:prstGeom prst="rect">
              <a:avLst/>
            </a:prstGeom>
          </p:spPr>
        </p:pic>
        <p:sp>
          <p:nvSpPr>
            <p:cNvPr id="458" name="textbox 458"/>
            <p:cNvSpPr/>
            <p:nvPr/>
          </p:nvSpPr>
          <p:spPr>
            <a:xfrm>
              <a:off x="-12700" y="-12700"/>
              <a:ext cx="3334384" cy="790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6850" algn="l" rtl="0" eaLnBrk="0">
                <a:lnSpc>
                  <a:spcPct val="98000"/>
                </a:lnSpc>
                <a:spcBef>
                  <a:spcPts val="0"/>
                </a:spcBef>
              </a:pPr>
              <a:r>
                <a:rPr sz="2400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作为团队领导的</a:t>
              </a:r>
              <a:r>
                <a:rPr sz="2400" kern="0" spc="-1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endParaRPr sz="2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8" name="group 108"/>
          <p:cNvGrpSpPr/>
          <p:nvPr/>
        </p:nvGrpSpPr>
        <p:grpSpPr>
          <a:xfrm rot="21600000">
            <a:off x="368274" y="19757931"/>
            <a:ext cx="2571750" cy="736652"/>
            <a:chOff x="0" y="0"/>
            <a:chExt cx="2571750" cy="736652"/>
          </a:xfrm>
        </p:grpSpPr>
        <p:pic>
          <p:nvPicPr>
            <p:cNvPr id="460" name="picture 46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571750" cy="736652"/>
            </a:xfrm>
            <a:prstGeom prst="rect">
              <a:avLst/>
            </a:prstGeom>
          </p:spPr>
        </p:pic>
        <p:sp>
          <p:nvSpPr>
            <p:cNvPr id="462" name="textbox 462"/>
            <p:cNvSpPr/>
            <p:nvPr/>
          </p:nvSpPr>
          <p:spPr>
            <a:xfrm>
              <a:off x="-12700" y="-12700"/>
              <a:ext cx="2597150" cy="803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0660" algn="l" rtl="0" eaLnBrk="0">
                <a:lnSpc>
                  <a:spcPct val="98000"/>
                </a:lnSpc>
              </a:pPr>
              <a:r>
                <a:rPr sz="24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适合的工作环境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box 504"/>
          <p:cNvSpPr/>
          <p:nvPr/>
        </p:nvSpPr>
        <p:spPr>
          <a:xfrm>
            <a:off x="609594" y="8001655"/>
            <a:ext cx="5373370" cy="8195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9000"/>
              </a:lnSpc>
            </a:pPr>
            <a:r>
              <a:rPr sz="2300" b="1" kern="0" spc="-18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缺乏意义和目标感：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8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对于缺乏意义和目标感的工作环境可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能会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9000"/>
              </a:lnSpc>
              <a:spcBef>
                <a:spcPts val="5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感到失落和不满，因为他们希望工作能够对社会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或他人产生积极影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响。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9000"/>
              </a:lnSpc>
              <a:spcBef>
                <a:spcPts val="700"/>
              </a:spcBef>
            </a:pPr>
            <a:r>
              <a:rPr sz="2300" b="1" kern="0" spc="-18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竞争压力激烈巨大：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面对竞争激烈且压力巨大的工作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环境或许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1000"/>
              </a:lnSpc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会产生焦虑情绪和不适感，因为他们更契合合作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与协调的环境。在那种高强度竞争和高压的工作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氛围中，</a:t>
            </a:r>
            <a:r>
              <a:rPr sz="1900" kern="0" spc="-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可能会因为无法适应而倍感焦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2000"/>
              </a:lnSpc>
              <a:spcBef>
                <a:spcPts val="50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虑，相比之下，他们在教育领域那种注重团队合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作和协调的环境中会更加如鱼得水。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9000"/>
              </a:lnSpc>
              <a:spcBef>
                <a:spcPts val="700"/>
              </a:spcBef>
            </a:pPr>
            <a:r>
              <a:rPr sz="2300" b="1" kern="0" spc="-15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缺乏创造性发挥空间：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通常富有创造力，热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衷于提出新颖的想法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4000"/>
              </a:lnSpc>
              <a:spcBef>
                <a:spcPts val="50"/>
              </a:spcBef>
            </a:pP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并解决各类问题。在团队讨论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中，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常常能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跳出固有思维，给出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让人眼前一亮的创意和独到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的问题解决方案。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6" name="textbox 506"/>
          <p:cNvSpPr/>
          <p:nvPr/>
        </p:nvSpPr>
        <p:spPr>
          <a:xfrm>
            <a:off x="552467" y="17842904"/>
            <a:ext cx="5457190" cy="3890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5000"/>
              </a:lnSpc>
              <a:tabLst>
                <a:tab pos="352425" algn="l"/>
              </a:tabLst>
            </a:pPr>
            <a:r>
              <a:rPr sz="2400" kern="0" spc="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400" b="1" kern="0" spc="-7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公关专员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8615" algn="l" rtl="0" eaLnBrk="0">
              <a:lnSpc>
                <a:spcPct val="85000"/>
              </a:lnSpc>
              <a:spcBef>
                <a:spcPts val="57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擅长与人建立良好关系，能够有效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地维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8615" algn="l" rtl="0" eaLnBrk="0">
              <a:lnSpc>
                <a:spcPct val="153000"/>
              </a:lnSpc>
              <a:spcBef>
                <a:spcPts val="6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护组织形象，所以如果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让他们来负责组织和执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行各种公关活动，与媒体和社会群体沟通，可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以很好地维护公司形象和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声誉。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5000"/>
              </a:lnSpc>
              <a:spcBef>
                <a:spcPts val="730"/>
              </a:spcBef>
              <a:tabLst>
                <a:tab pos="352425" algn="l"/>
              </a:tabLst>
            </a:pPr>
            <a:r>
              <a:rPr sz="2400" kern="0" spc="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400" b="1" kern="0" spc="-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演讲家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8615" algn="l" rtl="0" eaLnBrk="0">
              <a:lnSpc>
                <a:spcPct val="92000"/>
              </a:lnSpc>
              <a:spcBef>
                <a:spcPts val="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充满激情和感染力，自身的人格魅力能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08" name="picture 5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65167" y="20847015"/>
            <a:ext cx="184137" cy="203262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5167" y="17932379"/>
            <a:ext cx="184137" cy="190625"/>
          </a:xfrm>
          <a:prstGeom prst="rect">
            <a:avLst/>
          </a:prstGeom>
        </p:spPr>
      </p:pic>
      <p:sp>
        <p:nvSpPr>
          <p:cNvPr id="512" name="textbox 512"/>
          <p:cNvSpPr/>
          <p:nvPr/>
        </p:nvSpPr>
        <p:spPr>
          <a:xfrm>
            <a:off x="609594" y="2347137"/>
            <a:ext cx="5374004" cy="3919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社会道义感很强，他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们重视人道主义价值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7000"/>
              </a:lnSpc>
              <a:spcBef>
                <a:spcPts val="5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观，所以适合的工作环境也应该与这些价值观相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符合，例如非营利组织、社会工作等领域。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9000"/>
              </a:lnSpc>
              <a:spcBef>
                <a:spcPts val="700"/>
              </a:spcBef>
            </a:pPr>
            <a:r>
              <a:rPr sz="2300" b="1" kern="0" spc="-1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工作与生活平衡：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0"/>
              </a:spcBef>
            </a:pP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工作和生活能够平衡是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非常重视的，因此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3000"/>
              </a:lnSpc>
              <a:spcBef>
                <a:spcPts val="4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他们适合可以提供灵活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的工作时间和假期政策的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工作环境，以满足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的个人需求和生活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5"/>
              </a:spcBef>
            </a:pP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求</a:t>
            </a:r>
            <a:r>
              <a:rPr sz="1900" kern="0" spc="-4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4" name="textbox 514"/>
          <p:cNvSpPr/>
          <p:nvPr/>
        </p:nvSpPr>
        <p:spPr>
          <a:xfrm>
            <a:off x="609594" y="484246"/>
            <a:ext cx="5363845" cy="1567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适合可以提供具有挑战性的任务和持续学习的工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515"/>
              </a:lnSpc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作环境，以促进个人和职业发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展。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9000"/>
              </a:lnSpc>
              <a:spcBef>
                <a:spcPts val="5"/>
              </a:spcBef>
            </a:pPr>
            <a:r>
              <a:rPr sz="2300" b="1" kern="0" spc="-1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人道主义价值观：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30" name="group 130"/>
          <p:cNvGrpSpPr/>
          <p:nvPr/>
        </p:nvGrpSpPr>
        <p:grpSpPr>
          <a:xfrm rot="21600000">
            <a:off x="368274" y="6870769"/>
            <a:ext cx="2876588" cy="717522"/>
            <a:chOff x="0" y="0"/>
            <a:chExt cx="2876588" cy="717522"/>
          </a:xfrm>
        </p:grpSpPr>
        <p:pic>
          <p:nvPicPr>
            <p:cNvPr id="516" name="picture 5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876588" cy="717522"/>
            </a:xfrm>
            <a:prstGeom prst="rect">
              <a:avLst/>
            </a:prstGeom>
          </p:spPr>
        </p:pic>
        <p:sp>
          <p:nvSpPr>
            <p:cNvPr id="518" name="textbox 518"/>
            <p:cNvSpPr/>
            <p:nvPr/>
          </p:nvSpPr>
          <p:spPr>
            <a:xfrm>
              <a:off x="-12700" y="-12700"/>
              <a:ext cx="2902585" cy="784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7010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sz="2400" b="1" kern="0" spc="-1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不适合的工作环境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32" name="group 132"/>
          <p:cNvGrpSpPr/>
          <p:nvPr/>
        </p:nvGrpSpPr>
        <p:grpSpPr>
          <a:xfrm rot="21600000">
            <a:off x="368274" y="16802123"/>
            <a:ext cx="1708190" cy="730158"/>
            <a:chOff x="0" y="0"/>
            <a:chExt cx="1708190" cy="730158"/>
          </a:xfrm>
        </p:grpSpPr>
        <p:pic>
          <p:nvPicPr>
            <p:cNvPr id="520" name="picture 5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708190" cy="730158"/>
            </a:xfrm>
            <a:prstGeom prst="rect">
              <a:avLst/>
            </a:prstGeom>
          </p:spPr>
        </p:pic>
        <p:sp>
          <p:nvSpPr>
            <p:cNvPr id="522" name="textbox 522"/>
            <p:cNvSpPr/>
            <p:nvPr/>
          </p:nvSpPr>
          <p:spPr>
            <a:xfrm>
              <a:off x="-12700" y="-12700"/>
              <a:ext cx="1734185" cy="798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1610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sz="2400" b="1" kern="0" spc="-1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职业推荐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box 564"/>
          <p:cNvSpPr/>
          <p:nvPr/>
        </p:nvSpPr>
        <p:spPr>
          <a:xfrm>
            <a:off x="546089" y="98042"/>
            <a:ext cx="5456554" cy="73094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98000"/>
              </a:lnSpc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够吸引和影响观众。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6000"/>
              </a:lnSpc>
              <a:spcBef>
                <a:spcPts val="760"/>
              </a:spcBef>
              <a:tabLst>
                <a:tab pos="346075" algn="l"/>
              </a:tabLst>
            </a:pPr>
            <a:r>
              <a:rPr sz="2500" kern="0" spc="0" dirty="0">
                <a:solidFill>
                  <a:srgbClr val="109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140" dirty="0">
                <a:solidFill>
                  <a:srgbClr val="109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教育家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94000"/>
              </a:lnSpc>
              <a:spcBef>
                <a:spcPts val="575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关心他人成长，能够激发学生的潜力，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ct val="147000"/>
              </a:lnSpc>
              <a:spcBef>
                <a:spcPts val="6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为学生和家长提供教育咨询服务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，帮助他们做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出关于教育和职业发展的决策。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6000"/>
              </a:lnSpc>
              <a:spcBef>
                <a:spcPts val="760"/>
              </a:spcBef>
              <a:tabLst>
                <a:tab pos="346075" algn="l"/>
              </a:tabLst>
            </a:pPr>
            <a:r>
              <a:rPr sz="2500" kern="0" spc="0" dirty="0">
                <a:solidFill>
                  <a:srgbClr val="109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170" dirty="0">
                <a:solidFill>
                  <a:srgbClr val="109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销售经理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87000"/>
              </a:lnSpc>
              <a:spcBef>
                <a:spcPts val="57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具有出色的人际交往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能力，能够成功推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ts val="3635"/>
              </a:lnSpc>
            </a:pP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销产品和服务。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6000"/>
              </a:lnSpc>
              <a:spcBef>
                <a:spcPts val="760"/>
              </a:spcBef>
              <a:tabLst>
                <a:tab pos="346075" algn="l"/>
              </a:tabLst>
            </a:pPr>
            <a:r>
              <a:rPr sz="2500" kern="0" spc="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18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社区活动组织者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87000"/>
              </a:lnSpc>
              <a:spcBef>
                <a:spcPts val="57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富有创意和组织能力，可以策划和执行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ct val="153000"/>
              </a:lnSpc>
              <a:spcBef>
                <a:spcPts val="4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各种社区活动和项目，促进社区成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员之间的互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动和合作，能够打造令人难忘的活动。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66" name="picture 5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58789" y="5651571"/>
            <a:ext cx="184137" cy="203034"/>
          </a:xfrm>
          <a:prstGeom prst="rect">
            <a:avLst/>
          </a:prstGeom>
        </p:spPr>
      </p:pic>
      <p:pic>
        <p:nvPicPr>
          <p:cNvPr id="568" name="picture 5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8789" y="3606848"/>
            <a:ext cx="184137" cy="203255"/>
          </a:xfrm>
          <a:prstGeom prst="rect">
            <a:avLst/>
          </a:prstGeom>
        </p:spPr>
      </p:pic>
      <p:pic>
        <p:nvPicPr>
          <p:cNvPr id="570" name="picture 5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8789" y="1111161"/>
            <a:ext cx="184137" cy="216084"/>
          </a:xfrm>
          <a:prstGeom prst="rect">
            <a:avLst/>
          </a:prstGeom>
        </p:spPr>
      </p:pic>
      <p:sp>
        <p:nvSpPr>
          <p:cNvPr id="572" name="textbox 572"/>
          <p:cNvSpPr/>
          <p:nvPr/>
        </p:nvSpPr>
        <p:spPr>
          <a:xfrm>
            <a:off x="546089" y="8047273"/>
            <a:ext cx="5445759" cy="549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6000"/>
              </a:lnSpc>
              <a:tabLst>
                <a:tab pos="346075" algn="l"/>
              </a:tabLst>
            </a:pPr>
            <a:r>
              <a:rPr sz="2500" kern="0" spc="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20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心理咨询师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87000"/>
              </a:lnSpc>
              <a:spcBef>
                <a:spcPts val="57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具备强烈的同理心，能够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提供心理咨询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ts val="3400"/>
              </a:lnSpc>
            </a:pP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和支持，帮助他人解决问题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6000"/>
              </a:lnSpc>
              <a:spcBef>
                <a:spcPts val="755"/>
              </a:spcBef>
              <a:tabLst>
                <a:tab pos="346075" algn="l"/>
              </a:tabLst>
            </a:pPr>
            <a:r>
              <a:rPr sz="2500" kern="0" spc="0" dirty="0">
                <a:solidFill>
                  <a:srgbClr val="2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80" dirty="0">
                <a:solidFill>
                  <a:srgbClr val="2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律师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的表达能力强，可以在法庭上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有说服力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ts val="3505"/>
              </a:lnSpc>
            </a:pPr>
            <a:r>
              <a:rPr sz="19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和坚定信念。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0" algn="l" rtl="0" eaLnBrk="0">
              <a:lnSpc>
                <a:spcPct val="95000"/>
              </a:lnSpc>
              <a:spcBef>
                <a:spcPts val="755"/>
              </a:spcBef>
              <a:tabLst>
                <a:tab pos="346075" algn="l"/>
              </a:tabLst>
            </a:pPr>
            <a:r>
              <a:rPr sz="2500" kern="0" spc="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20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人力资源专员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ct val="87000"/>
              </a:lnSpc>
              <a:spcBef>
                <a:spcPts val="575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比较适合负责招聘、培训和员工发展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algn="l" rtl="0" eaLnBrk="0">
              <a:lnSpc>
                <a:spcPts val="3535"/>
              </a:lnSpc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可以促进员工的职业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生涯发展和工作满意度。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74" name="picture 5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8789" y="12230065"/>
            <a:ext cx="190515" cy="215862"/>
          </a:xfrm>
          <a:prstGeom prst="rect">
            <a:avLst/>
          </a:prstGeom>
        </p:spPr>
      </p:pic>
      <p:pic>
        <p:nvPicPr>
          <p:cNvPr id="576" name="picture 5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8789" y="10185344"/>
            <a:ext cx="184137" cy="203255"/>
          </a:xfrm>
          <a:prstGeom prst="rect">
            <a:avLst/>
          </a:prstGeom>
        </p:spPr>
      </p:pic>
      <p:pic>
        <p:nvPicPr>
          <p:cNvPr id="578" name="picture 5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58789" y="8140622"/>
            <a:ext cx="184137" cy="196842"/>
          </a:xfrm>
          <a:prstGeom prst="rect">
            <a:avLst/>
          </a:prstGeom>
        </p:spPr>
      </p:pic>
      <p:sp>
        <p:nvSpPr>
          <p:cNvPr id="580" name="textbox 580"/>
          <p:cNvSpPr/>
          <p:nvPr/>
        </p:nvSpPr>
        <p:spPr>
          <a:xfrm>
            <a:off x="552467" y="17881165"/>
            <a:ext cx="5446395" cy="3872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5000"/>
              </a:lnSpc>
              <a:tabLst>
                <a:tab pos="339725" algn="l"/>
              </a:tabLst>
            </a:pPr>
            <a:r>
              <a:rPr sz="2500" kern="0" spc="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13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研究员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5915" algn="l" rtl="0" eaLnBrk="0">
              <a:lnSpc>
                <a:spcPct val="87000"/>
              </a:lnSpc>
              <a:spcBef>
                <a:spcPts val="575"/>
              </a:spcBef>
            </a:pP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长期在实验室中独自工作，会让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缺乏与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35915" algn="l" rtl="0" eaLnBrk="0">
              <a:lnSpc>
                <a:spcPts val="3385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他人交流和合作的机会。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5000"/>
              </a:lnSpc>
              <a:spcBef>
                <a:spcPts val="760"/>
              </a:spcBef>
              <a:tabLst>
                <a:tab pos="339725" algn="l"/>
              </a:tabLst>
            </a:pPr>
            <a:r>
              <a:rPr sz="2500" kern="0" spc="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500" b="1" kern="0" spc="-210" dirty="0">
                <a:solidFill>
                  <a:srgbClr val="1090F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金融专员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这类工作需要在高压力和竞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争激烈的环境中工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35915" algn="l" rtl="0" eaLnBrk="0">
              <a:lnSpc>
                <a:spcPct val="156000"/>
              </a:lnSpc>
              <a:spcBef>
                <a:spcPts val="3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作，是缺乏人道主义价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值观的工作环境，不符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的性格。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2" name="picture 5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5167" y="19989832"/>
            <a:ext cx="184137" cy="209448"/>
          </a:xfrm>
          <a:prstGeom prst="rect">
            <a:avLst/>
          </a:prstGeom>
        </p:spPr>
      </p:pic>
      <p:pic>
        <p:nvPicPr>
          <p:cNvPr id="584" name="picture 5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65167" y="17951524"/>
            <a:ext cx="184137" cy="203034"/>
          </a:xfrm>
          <a:prstGeom prst="rect">
            <a:avLst/>
          </a:prstGeom>
        </p:spPr>
      </p:pic>
      <p:sp>
        <p:nvSpPr>
          <p:cNvPr id="586" name="textbox 586"/>
          <p:cNvSpPr/>
          <p:nvPr/>
        </p:nvSpPr>
        <p:spPr>
          <a:xfrm>
            <a:off x="876302" y="14191822"/>
            <a:ext cx="5122545" cy="1859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5000"/>
              </a:lnSpc>
            </a:pPr>
            <a:r>
              <a:rPr sz="2500" b="1" kern="0" spc="-210" dirty="0">
                <a:solidFill>
                  <a:srgbClr val="109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志愿者协调员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8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擅长组织和管理团队，让他们来策划和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7000"/>
              </a:lnSpc>
              <a:spcBef>
                <a:spcPts val="2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执行各种志愿者活动，可以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推动社区服务和公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益事业。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54" name="group 154"/>
          <p:cNvGrpSpPr/>
          <p:nvPr/>
        </p:nvGrpSpPr>
        <p:grpSpPr>
          <a:xfrm rot="21600000">
            <a:off x="349277" y="16833950"/>
            <a:ext cx="1714500" cy="723891"/>
            <a:chOff x="0" y="0"/>
            <a:chExt cx="1714500" cy="723891"/>
          </a:xfrm>
        </p:grpSpPr>
        <p:pic>
          <p:nvPicPr>
            <p:cNvPr id="588" name="picture 58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714500" cy="723891"/>
            </a:xfrm>
            <a:prstGeom prst="rect">
              <a:avLst/>
            </a:prstGeom>
          </p:spPr>
        </p:pic>
        <p:sp>
          <p:nvSpPr>
            <p:cNvPr id="590" name="textbox 590"/>
            <p:cNvSpPr/>
            <p:nvPr/>
          </p:nvSpPr>
          <p:spPr>
            <a:xfrm>
              <a:off x="-12700" y="-12700"/>
              <a:ext cx="1739900" cy="789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2565" algn="l" rtl="0" eaLnBrk="0">
                <a:lnSpc>
                  <a:spcPct val="96000"/>
                </a:lnSpc>
              </a:pPr>
              <a:r>
                <a:rPr sz="2300" kern="0" spc="-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职业避雷</a:t>
              </a:r>
              <a:endParaRPr sz="2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picture 6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49277" y="14709714"/>
            <a:ext cx="5994371" cy="901762"/>
          </a:xfrm>
          <a:prstGeom prst="rect">
            <a:avLst/>
          </a:prstGeom>
        </p:spPr>
      </p:pic>
      <p:sp>
        <p:nvSpPr>
          <p:cNvPr id="638" name="textbox 638"/>
          <p:cNvSpPr/>
          <p:nvPr/>
        </p:nvSpPr>
        <p:spPr>
          <a:xfrm>
            <a:off x="628660" y="13616117"/>
            <a:ext cx="5789929" cy="6170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0" algn="l" rtl="0" eaLnBrk="0">
              <a:lnSpc>
                <a:spcPct val="98000"/>
              </a:lnSpc>
              <a:tabLst>
                <a:tab pos="3771900" algn="l"/>
              </a:tabLst>
            </a:pPr>
            <a:r>
              <a:rPr sz="3800" u="sng" kern="0" spc="0" dirty="0">
                <a:solidFill>
                  <a:srgbClr val="F0806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800" kern="0" spc="-23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800" b="1" kern="0" spc="-34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恋爱</a:t>
            </a:r>
            <a:r>
              <a:rPr sz="3800" b="1" kern="0" spc="-33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</a:t>
            </a:r>
            <a:r>
              <a:rPr sz="3800" b="1" kern="0" spc="-150" dirty="0">
                <a:solidFill>
                  <a:srgbClr val="F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析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1510" algn="l" rtl="0" eaLnBrk="0">
              <a:lnSpc>
                <a:spcPts val="2730"/>
              </a:lnSpc>
              <a:spcBef>
                <a:spcPts val="670"/>
              </a:spcBef>
            </a:pPr>
            <a:r>
              <a:rPr sz="2200" b="1" kern="0" spc="-1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恋爱风格：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恋爱对你而言，是一块互相包容的拼图。你是一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7000"/>
              </a:lnSpc>
              <a:spcBef>
                <a:spcPts val="1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个理想主义者，追求极致的纯爱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，讨厌带着世俗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欲望的关系，是一个勇于反抗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现实的反骨仔。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你希望能够与另一半进行高质量的交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流，互相提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0000"/>
              </a:lnSpc>
              <a:spcBef>
                <a:spcPts val="9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升灵魂的深度。宁要高质量的孤独，也不要低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质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量的共处。你在恋爱中往往表现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出极高的热情，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主动引领关系的发展。他们会积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极地策划约会、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安排活动，让恋爱充满活力和惊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喜。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40" name="textbox 640"/>
          <p:cNvSpPr/>
          <p:nvPr/>
        </p:nvSpPr>
        <p:spPr>
          <a:xfrm>
            <a:off x="709622" y="5209491"/>
            <a:ext cx="5305425" cy="534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9865" algn="l" rtl="0" eaLnBrk="0">
              <a:lnSpc>
                <a:spcPct val="95000"/>
              </a:lnSpc>
            </a:pPr>
            <a:r>
              <a:rPr sz="2400" b="1" kern="0" spc="-14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软件测试员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542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主要是测试软件的功能和性能，通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常需要长时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85420" algn="l" rtl="0" eaLnBrk="0">
              <a:lnSpc>
                <a:spcPts val="3300"/>
              </a:lnSpc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间独自工作，缺乏与他人合作的机会。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9865" algn="l" rtl="0" eaLnBrk="0">
              <a:lnSpc>
                <a:spcPct val="95000"/>
              </a:lnSpc>
              <a:spcBef>
                <a:spcPts val="725"/>
              </a:spcBef>
            </a:pPr>
            <a:r>
              <a:rPr sz="2400" b="1" kern="0" spc="-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流水线工人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需要长时间重复执行相似的任务，缺乏创造性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85420" algn="l" rtl="0" eaLnBrk="0">
              <a:lnSpc>
                <a:spcPts val="3380"/>
              </a:lnSpc>
            </a:pP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发挥空间和团队合作机会。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</a:pP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42" name="textbox 642"/>
          <p:cNvSpPr/>
          <p:nvPr/>
        </p:nvSpPr>
        <p:spPr>
          <a:xfrm>
            <a:off x="882680" y="675729"/>
            <a:ext cx="5140959" cy="3902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5000"/>
              </a:lnSpc>
            </a:pPr>
            <a:r>
              <a:rPr sz="2400" b="1" kern="0" spc="-12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技术支持专员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主要是通过电话或电子邮件解决客户的技术问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10"/>
              </a:lnSpc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题，缺乏与他人面对面的交流机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6000"/>
              </a:lnSpc>
              <a:spcBef>
                <a:spcPts val="725"/>
              </a:spcBef>
            </a:pPr>
            <a:r>
              <a:rPr sz="2400" b="1" kern="0" spc="-11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艺术家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8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这类工作一般需要长期的、独自的工作，可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80"/>
              </a:lnSpc>
            </a:pP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会让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感到孤独和缺乏与他人交流的机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</a:pP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</a:t>
            </a:r>
            <a:r>
              <a:rPr sz="1900" kern="0" spc="-5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44" name="textbox 644"/>
          <p:cNvSpPr/>
          <p:nvPr/>
        </p:nvSpPr>
        <p:spPr>
          <a:xfrm>
            <a:off x="628660" y="20320834"/>
            <a:ext cx="5388609" cy="702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但你心中的理想恋爱关系可能标准过高，当现实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00"/>
              </a:lnSpc>
            </a:pP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与理想存在差距时，容易感到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失望或焦虑。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64" name="textbox 664"/>
          <p:cNvSpPr/>
          <p:nvPr/>
        </p:nvSpPr>
        <p:spPr>
          <a:xfrm>
            <a:off x="4679955" y="13201330"/>
            <a:ext cx="1713229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2000"/>
              </a:lnSpc>
            </a:pPr>
            <a:r>
              <a:rPr sz="1800" kern="0" spc="-7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LOVE ANALYSIS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68" name="picture 6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1965" y="13592159"/>
            <a:ext cx="546102" cy="533509"/>
          </a:xfrm>
          <a:prstGeom prst="rect">
            <a:avLst/>
          </a:prstGeom>
        </p:spPr>
      </p:pic>
      <p:pic>
        <p:nvPicPr>
          <p:cNvPr id="670" name="picture 6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1965" y="14760675"/>
            <a:ext cx="12687" cy="6934124"/>
          </a:xfrm>
          <a:prstGeom prst="rect">
            <a:avLst/>
          </a:prstGeom>
        </p:spPr>
      </p:pic>
      <p:pic>
        <p:nvPicPr>
          <p:cNvPr id="672" name="picture 6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78605" y="14138250"/>
            <a:ext cx="6350" cy="50800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picture 6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60425" y="2289170"/>
            <a:ext cx="2609811" cy="501591"/>
          </a:xfrm>
          <a:prstGeom prst="rect">
            <a:avLst/>
          </a:prstGeom>
        </p:spPr>
      </p:pic>
      <p:pic>
        <p:nvPicPr>
          <p:cNvPr id="676" name="picture 6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0425" y="5743641"/>
            <a:ext cx="2876519" cy="482488"/>
          </a:xfrm>
          <a:prstGeom prst="rect">
            <a:avLst/>
          </a:prstGeom>
        </p:spPr>
      </p:pic>
      <p:pic>
        <p:nvPicPr>
          <p:cNvPr id="678" name="picture 6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0425" y="8308899"/>
            <a:ext cx="2889206" cy="470039"/>
          </a:xfrm>
          <a:prstGeom prst="rect">
            <a:avLst/>
          </a:prstGeom>
        </p:spPr>
      </p:pic>
      <p:pic>
        <p:nvPicPr>
          <p:cNvPr id="680" name="picture 6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8274" y="1025430"/>
            <a:ext cx="5988062" cy="908099"/>
          </a:xfrm>
          <a:prstGeom prst="rect">
            <a:avLst/>
          </a:prstGeom>
        </p:spPr>
      </p:pic>
      <p:graphicFrame>
        <p:nvGraphicFramePr>
          <p:cNvPr id="682" name="table 682"/>
          <p:cNvGraphicFramePr>
            <a:graphicFrameLocks noGrp="1"/>
          </p:cNvGraphicFramePr>
          <p:nvPr/>
        </p:nvGraphicFramePr>
        <p:xfrm>
          <a:off x="368274" y="911246"/>
          <a:ext cx="6013450" cy="10553064"/>
        </p:xfrm>
        <a:graphic>
          <a:graphicData uri="http://schemas.openxmlformats.org/drawingml/2006/table">
            <a:tbl>
              <a:tblPr/>
              <a:tblGrid>
                <a:gridCol w="6013450"/>
              </a:tblGrid>
              <a:tr h="1200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0750" algn="l" rtl="0" eaLnBrk="0">
                        <a:lnSpc>
                          <a:spcPts val="2730"/>
                        </a:lnSpc>
                        <a:spcBef>
                          <a:spcPts val="5"/>
                        </a:spcBef>
                      </a:pPr>
                      <a:r>
                        <a:rPr sz="2200" kern="0" spc="-1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恋爱特点：</a:t>
                      </a:r>
                      <a:endParaRPr sz="2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0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22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理想化的形象塑造</a:t>
                      </a:r>
                      <a:endParaRPr sz="2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758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76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1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常常理想化爱情，渴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望与伴侣建立深厚的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78765" algn="l" rtl="0" eaLnBrk="0">
                        <a:lnSpc>
                          <a:spcPct val="155000"/>
                        </a:lnSpc>
                        <a:spcBef>
                          <a:spcPts val="45"/>
                        </a:spcBef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情感连接和有意义的关系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。心中有着对理想爱情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的美好想象，追求真挚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、深厚且有意义的感情连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接。但有时可能因现实与理想的差距而感到失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765" algn="l" rtl="0" eaLnBrk="0">
                        <a:lnSpc>
                          <a:spcPct val="97000"/>
                        </a:lnSpc>
                      </a:pPr>
                      <a:r>
                        <a:rPr sz="1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落</a:t>
                      </a:r>
                      <a:r>
                        <a:rPr sz="1900" kern="0" spc="-4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563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00" algn="l" rtl="0" eaLnBrk="0">
                        <a:lnSpc>
                          <a:spcPct val="96000"/>
                        </a:lnSpc>
                      </a:pPr>
                      <a:r>
                        <a:rPr sz="2200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热情直率的情感表达</a:t>
                      </a:r>
                      <a:endParaRPr sz="2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957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765" algn="l" rtl="0" eaLnBrk="0">
                        <a:lnSpc>
                          <a:spcPct val="147000"/>
                        </a:lnSpc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1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投入恋爱时充满激情，他们的热情能感染</a:t>
                      </a:r>
                      <a:r>
                        <a:rPr sz="1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伴侣，让恋爱充满活力与浪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漫。感情中会坦率直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接地表达自己的爱意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和想法，不喜欢拐弯抹角。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505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00" algn="l" rtl="0" eaLnBrk="0">
                        <a:lnSpc>
                          <a:spcPct val="95000"/>
                        </a:lnSpc>
                      </a:pPr>
                      <a:r>
                        <a:rPr sz="2200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亲密关系的忠诚奉献</a:t>
                      </a:r>
                      <a:endParaRPr sz="2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38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76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一</a:t>
                      </a:r>
                      <a:r>
                        <a:rPr sz="1900" kern="0" spc="-5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旦陷入爱情，</a:t>
                      </a:r>
                      <a:r>
                        <a:rPr sz="1900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1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会对伴侣表现出极高的忠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78765" algn="l" rtl="0" eaLnBrk="0">
                        <a:lnSpc>
                          <a:spcPct val="155000"/>
                        </a:lnSpc>
                        <a:spcBef>
                          <a:spcPts val="5"/>
                        </a:spcBef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诚度，愿意为了关系的稳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定和幸福无私奉献。对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伴侣关怀备至，能敏锐地察觉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到对方的需求，并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及时提供支持和安慰。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84" name="textbox 684"/>
          <p:cNvSpPr/>
          <p:nvPr/>
        </p:nvSpPr>
        <p:spPr>
          <a:xfrm>
            <a:off x="634969" y="14097756"/>
            <a:ext cx="5386070" cy="3616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性格：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在恋爱初期充满热情和魅力，富有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05"/>
              </a:lnSpc>
            </a:pPr>
            <a:r>
              <a:rPr sz="19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理想主义。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8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行为：会积极主动地与对方交流，展现出自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7000"/>
              </a:lnSpc>
              <a:spcBef>
                <a:spcPts val="4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乐观的一面。可能会频繁地联系对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方，安排各种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有趣的约会活动。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心理：内心充满期待和兴奋，对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新的恋情充满美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350"/>
              </a:lnSpc>
            </a:pP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好的幻想，急于了解对方的一切。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6" name="textbox 686"/>
          <p:cNvSpPr/>
          <p:nvPr/>
        </p:nvSpPr>
        <p:spPr>
          <a:xfrm>
            <a:off x="634969" y="19139628"/>
            <a:ext cx="5386070" cy="2409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性格：依然热情，但更加注重深度的情感连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45"/>
              </a:lnSpc>
            </a:pPr>
            <a:r>
              <a:rPr sz="1900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理解。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0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行为：开始与对方分享更多内心的想法和感受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7000"/>
              </a:lnSpc>
              <a:spcBef>
                <a:spcPts val="3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努力增进彼此的了解。可能会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为了关系的稳定做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出一些妥协和改变。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2" name="group 182"/>
          <p:cNvGrpSpPr/>
          <p:nvPr/>
        </p:nvGrpSpPr>
        <p:grpSpPr>
          <a:xfrm rot="21600000">
            <a:off x="355587" y="12023716"/>
            <a:ext cx="6000750" cy="920762"/>
            <a:chOff x="0" y="0"/>
            <a:chExt cx="6000750" cy="920762"/>
          </a:xfrm>
        </p:grpSpPr>
        <p:pic>
          <p:nvPicPr>
            <p:cNvPr id="688" name="picture 68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6000750" cy="920762"/>
            </a:xfrm>
            <a:prstGeom prst="rect">
              <a:avLst/>
            </a:prstGeom>
          </p:spPr>
        </p:pic>
        <p:sp>
          <p:nvSpPr>
            <p:cNvPr id="690" name="textbox 690"/>
            <p:cNvSpPr/>
            <p:nvPr/>
          </p:nvSpPr>
          <p:spPr>
            <a:xfrm>
              <a:off x="-12700" y="-12700"/>
              <a:ext cx="6026150" cy="984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45515" algn="l" rtl="0" eaLnBrk="0">
                <a:lnSpc>
                  <a:spcPts val="2730"/>
                </a:lnSpc>
              </a:pPr>
              <a:r>
                <a:rPr sz="2200" kern="0" spc="-1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恋爱状态：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84" name="group 184"/>
          <p:cNvGrpSpPr/>
          <p:nvPr/>
        </p:nvGrpSpPr>
        <p:grpSpPr>
          <a:xfrm rot="21600000">
            <a:off x="660425" y="18361096"/>
            <a:ext cx="1511297" cy="488927"/>
            <a:chOff x="0" y="0"/>
            <a:chExt cx="1511297" cy="488927"/>
          </a:xfrm>
        </p:grpSpPr>
        <p:pic>
          <p:nvPicPr>
            <p:cNvPr id="692" name="picture 6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511297" cy="488927"/>
            </a:xfrm>
            <a:prstGeom prst="rect">
              <a:avLst/>
            </a:prstGeom>
          </p:spPr>
        </p:pic>
        <p:sp>
          <p:nvSpPr>
            <p:cNvPr id="694" name="textbox 694"/>
            <p:cNvSpPr/>
            <p:nvPr/>
          </p:nvSpPr>
          <p:spPr>
            <a:xfrm>
              <a:off x="-12700" y="-12700"/>
              <a:ext cx="1536700" cy="5530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7965" algn="l" rtl="0" eaLnBrk="0">
                <a:lnSpc>
                  <a:spcPct val="96000"/>
                </a:lnSpc>
              </a:pPr>
              <a:r>
                <a:rPr sz="2200" kern="0" spc="-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热恋阶段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86" name="group 186"/>
          <p:cNvGrpSpPr/>
          <p:nvPr/>
        </p:nvGrpSpPr>
        <p:grpSpPr>
          <a:xfrm rot="21600000">
            <a:off x="660425" y="13331887"/>
            <a:ext cx="1511297" cy="482487"/>
            <a:chOff x="0" y="0"/>
            <a:chExt cx="1511297" cy="482487"/>
          </a:xfrm>
        </p:grpSpPr>
        <p:pic>
          <p:nvPicPr>
            <p:cNvPr id="696" name="picture 69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511297" cy="482487"/>
            </a:xfrm>
            <a:prstGeom prst="rect">
              <a:avLst/>
            </a:prstGeom>
          </p:spPr>
        </p:pic>
        <p:sp>
          <p:nvSpPr>
            <p:cNvPr id="698" name="textbox 698"/>
            <p:cNvSpPr/>
            <p:nvPr/>
          </p:nvSpPr>
          <p:spPr>
            <a:xfrm>
              <a:off x="-12700" y="-12700"/>
              <a:ext cx="1536700" cy="5448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7965" algn="l" rtl="0" eaLnBrk="0">
                <a:lnSpc>
                  <a:spcPct val="95000"/>
                </a:lnSpc>
                <a:spcBef>
                  <a:spcPts val="5"/>
                </a:spcBef>
              </a:pPr>
              <a:r>
                <a:rPr sz="2200" kern="0" spc="-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暧昧阶段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740" name="picture 7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65099" y="12011052"/>
            <a:ext cx="6350" cy="9759870"/>
          </a:xfrm>
          <a:prstGeom prst="rect">
            <a:avLst/>
          </a:prstGeom>
        </p:spPr>
      </p:pic>
      <p:pic>
        <p:nvPicPr>
          <p:cNvPr id="742" name="picture 7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378605" y="12099910"/>
            <a:ext cx="6350" cy="70295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picture 7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47669" y="2130499"/>
            <a:ext cx="1504987" cy="495160"/>
          </a:xfrm>
          <a:prstGeom prst="rect">
            <a:avLst/>
          </a:prstGeom>
        </p:spPr>
      </p:pic>
      <p:graphicFrame>
        <p:nvGraphicFramePr>
          <p:cNvPr id="758" name="table 758"/>
          <p:cNvGraphicFramePr>
            <a:graphicFrameLocks noGrp="1"/>
          </p:cNvGraphicFramePr>
          <p:nvPr/>
        </p:nvGraphicFramePr>
        <p:xfrm>
          <a:off x="361965" y="79375"/>
          <a:ext cx="6025515" cy="7708264"/>
        </p:xfrm>
        <a:graphic>
          <a:graphicData uri="http://schemas.openxmlformats.org/drawingml/2006/table">
            <a:tbl>
              <a:tblPr/>
              <a:tblGrid>
                <a:gridCol w="6025515"/>
              </a:tblGrid>
              <a:tr h="1717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115" algn="l" rtl="0" eaLnBrk="0">
                        <a:lnSpc>
                          <a:spcPct val="87000"/>
                        </a:lnSpc>
                      </a:pPr>
                      <a:r>
                        <a:rPr sz="1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心理：会思考这段关系的可持续性</a:t>
                      </a:r>
                      <a:r>
                        <a:rPr sz="1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和发展方向，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85115" algn="l" rtl="0" eaLnBrk="0">
                        <a:lnSpc>
                          <a:spcPct val="156000"/>
                        </a:lnSpc>
                        <a:spcBef>
                          <a:spcPts val="35"/>
                        </a:spcBef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对伴侣的依赖逐渐增加，同时也担心自己的付出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得不到同等的回应。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569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5181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900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稳定阶段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33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115" algn="l" rtl="0" eaLnBrk="0">
                        <a:lnSpc>
                          <a:spcPct val="87000"/>
                        </a:lnSpc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性格：变得更加成熟和稳重，对爱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情有更深刻的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85115" algn="l" rtl="0" eaLnBrk="0">
                        <a:lnSpc>
                          <a:spcPts val="3695"/>
                        </a:lnSpc>
                      </a:pPr>
                      <a:r>
                        <a:rPr sz="1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理解和承诺。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115" algn="l" rtl="0" eaLnBrk="0">
                        <a:lnSpc>
                          <a:spcPct val="87000"/>
                        </a:lnSpc>
                        <a:spcBef>
                          <a:spcPts val="580"/>
                        </a:spcBef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行为：会在生活中给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予伴侣更多实际的支持和帮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85115" algn="l" rtl="0" eaLnBrk="0">
                        <a:lnSpc>
                          <a:spcPct val="154000"/>
                        </a:lnSpc>
                        <a:spcBef>
                          <a:spcPts val="35"/>
                        </a:spcBef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助，共同面对各种困难和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挑战。可能会更加注重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家庭和共同生活的建设。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4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115" algn="l" rtl="0" eaLnBrk="0">
                        <a:lnSpc>
                          <a:spcPct val="87000"/>
                        </a:lnSpc>
                        <a:spcBef>
                          <a:spcPts val="575"/>
                        </a:spcBef>
                      </a:pP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心理：对这段感情充满信心和安全感，将伴侣视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85115" algn="l" rtl="0" eaLnBrk="0">
                        <a:lnSpc>
                          <a:spcPct val="156000"/>
                        </a:lnSpc>
                        <a:spcBef>
                          <a:spcPts val="35"/>
                        </a:spcBef>
                      </a:pP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为生命中不可或缺的一部分，愿意为了维护关系</a:t>
                      </a:r>
                      <a:r>
                        <a:rPr sz="1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而不断努力和调整自己。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68" name="picture 7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562" y="9617181"/>
            <a:ext cx="5041863" cy="2089112"/>
          </a:xfrm>
          <a:prstGeom prst="rect">
            <a:avLst/>
          </a:prstGeom>
        </p:spPr>
      </p:pic>
      <p:grpSp>
        <p:nvGrpSpPr>
          <p:cNvPr id="218" name="group 218"/>
          <p:cNvGrpSpPr/>
          <p:nvPr/>
        </p:nvGrpSpPr>
        <p:grpSpPr>
          <a:xfrm rot="21600000">
            <a:off x="361965" y="8359849"/>
            <a:ext cx="5962619" cy="907976"/>
            <a:chOff x="0" y="0"/>
            <a:chExt cx="5962619" cy="907976"/>
          </a:xfrm>
        </p:grpSpPr>
        <p:pic>
          <p:nvPicPr>
            <p:cNvPr id="770" name="picture 77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962619" cy="907976"/>
            </a:xfrm>
            <a:prstGeom prst="rect">
              <a:avLst/>
            </a:prstGeom>
          </p:spPr>
        </p:pic>
        <p:sp>
          <p:nvSpPr>
            <p:cNvPr id="772" name="textbox 772"/>
            <p:cNvSpPr/>
            <p:nvPr/>
          </p:nvSpPr>
          <p:spPr>
            <a:xfrm>
              <a:off x="-12700" y="-12700"/>
              <a:ext cx="5988050" cy="971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39165" algn="l" rtl="0" eaLnBrk="0">
                <a:lnSpc>
                  <a:spcPct val="98000"/>
                </a:lnSpc>
                <a:spcBef>
                  <a:spcPts val="5"/>
                </a:spcBef>
              </a:pPr>
              <a:r>
                <a:rPr sz="2200" kern="0" spc="-1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恋爱配对：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788" name="picture 7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25470" y="12011075"/>
            <a:ext cx="5899114" cy="12735"/>
          </a:xfrm>
          <a:prstGeom prst="rect">
            <a:avLst/>
          </a:prstGeom>
        </p:spPr>
      </p:pic>
      <p:pic>
        <p:nvPicPr>
          <p:cNvPr id="790" name="picture 7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75402" y="8194723"/>
            <a:ext cx="12687" cy="4521215"/>
          </a:xfrm>
          <a:prstGeom prst="rect">
            <a:avLst/>
          </a:prstGeom>
        </p:spPr>
      </p:pic>
      <p:pic>
        <p:nvPicPr>
          <p:cNvPr id="792" name="picture 7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61965" y="8404206"/>
            <a:ext cx="12687" cy="35559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5100</Words>
  <Application>WPS 演示</Application>
  <PresentationFormat/>
  <Paragraphs>604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黑体</vt:lpstr>
      <vt:lpstr>Times New Roman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1</cp:revision>
  <dcterms:created xsi:type="dcterms:W3CDTF">2026-06-05T06:34:32Z</dcterms:created>
  <dcterms:modified xsi:type="dcterms:W3CDTF">2026-06-05T06:34:32Z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2026-06-05T14:23:06Z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