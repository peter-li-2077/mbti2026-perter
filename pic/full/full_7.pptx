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2" r:id="rId3"/>
  </p:sldIdLst>
  <p:sldSz cx="6858000" cy="2211705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textbox 442"/>
          <p:cNvSpPr/>
          <p:nvPr/>
        </p:nvSpPr>
        <p:spPr>
          <a:xfrm>
            <a:off x="615972" y="2738868"/>
            <a:ext cx="5497829" cy="84899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145" algn="l" rtl="0" eaLnBrk="0">
              <a:lnSpc>
                <a:spcPct val="94000"/>
              </a:lnSpc>
            </a:pPr>
            <a:r>
              <a:rPr sz="2400" b="1" kern="0" spc="-180" dirty="0">
                <a:solidFill>
                  <a:srgbClr val="1080E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在团队中，</a:t>
            </a:r>
            <a:r>
              <a:rPr sz="2400" kern="0" spc="-180" dirty="0">
                <a:solidFill>
                  <a:srgbClr val="1080E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ENFJ</a:t>
            </a:r>
            <a:r>
              <a:rPr sz="2400" b="1" kern="0" spc="-180" dirty="0">
                <a:solidFill>
                  <a:srgbClr val="1080E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通常会：</a:t>
            </a:r>
            <a:endParaRPr sz="2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6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6000"/>
              </a:lnSpc>
              <a:spcBef>
                <a:spcPts val="575"/>
              </a:spcBef>
            </a:pPr>
            <a:r>
              <a:rPr sz="1900" kern="0" spc="-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</a:t>
            </a:r>
            <a:r>
              <a:rPr sz="1900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1900" kern="0" spc="-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提供鼓励与支持。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7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6000"/>
              </a:lnSpc>
              <a:spcBef>
                <a:spcPts val="570"/>
              </a:spcBef>
            </a:pPr>
            <a:r>
              <a:rPr sz="1900" kern="0" spc="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</a:t>
            </a:r>
            <a:r>
              <a:rPr sz="1900" kern="0" spc="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1900" kern="0" spc="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渴望打造一个稳固且富有韧性的团队。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5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590"/>
              </a:lnSpc>
              <a:spcBef>
                <a:spcPts val="580"/>
              </a:spcBef>
            </a:pPr>
            <a:r>
              <a:rPr sz="1900" kern="0" spc="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r>
              <a:rPr sz="1900" kern="0" spc="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190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鼓励团队成员之间和谐相处。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7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6000"/>
              </a:lnSpc>
              <a:spcBef>
                <a:spcPts val="580"/>
              </a:spcBef>
            </a:pPr>
            <a:r>
              <a:rPr sz="1900" kern="0" spc="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r>
              <a:rPr sz="1900" kern="0" spc="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1900" kern="0" spc="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对团队所面临的困难较为敏感。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4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31000"/>
              </a:lnSpc>
              <a:spcBef>
                <a:spcPts val="575"/>
              </a:spcBef>
            </a:pP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5</a:t>
            </a: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贡献出他们充满热情的态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度和出色的组织能</a:t>
            </a:r>
            <a:r>
              <a:rPr sz="19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</a:t>
            </a:r>
            <a:r>
              <a:rPr sz="1900" kern="0" spc="-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力</a:t>
            </a:r>
            <a:r>
              <a:rPr sz="1900" kern="0" spc="-4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900" kern="0" spc="-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4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590"/>
              </a:lnSpc>
              <a:spcBef>
                <a:spcPts val="570"/>
              </a:spcBef>
            </a:pPr>
            <a:r>
              <a:rPr sz="1900" kern="0" spc="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6</a:t>
            </a:r>
            <a:r>
              <a:rPr sz="1900" kern="0" spc="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190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保持充满活力且愉快的态度。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2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145" algn="l" rtl="0" eaLnBrk="0">
              <a:lnSpc>
                <a:spcPct val="94000"/>
              </a:lnSpc>
              <a:spcBef>
                <a:spcPts val="725"/>
              </a:spcBef>
            </a:pPr>
            <a:r>
              <a:rPr sz="2400" b="1" kern="0" spc="-170" dirty="0">
                <a:solidFill>
                  <a:srgbClr val="1080E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在团队中，</a:t>
            </a:r>
            <a:r>
              <a:rPr sz="2400" b="1" kern="0" spc="-170" dirty="0">
                <a:solidFill>
                  <a:srgbClr val="1080E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ENFJ</a:t>
            </a:r>
            <a:r>
              <a:rPr sz="2400" b="1" kern="0" spc="-170" dirty="0">
                <a:solidFill>
                  <a:srgbClr val="1080E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应该意识到他们可能会：</a:t>
            </a:r>
            <a:endParaRPr sz="2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7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24000"/>
              </a:lnSpc>
              <a:spcBef>
                <a:spcPts val="575"/>
              </a:spcBef>
            </a:pP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对不愿意共同合作、效率</a:t>
            </a:r>
            <a:r>
              <a:rPr sz="1900" kern="0" spc="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低下或组织混乱的人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900" kern="0" spc="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感到沮丧。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7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20000"/>
              </a:lnSpc>
              <a:spcBef>
                <a:spcPts val="575"/>
              </a:spcBef>
            </a:pP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</a:t>
            </a: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当他们只关注人际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关系问题、天真地支持某</a:t>
            </a:r>
            <a:r>
              <a:rPr sz="19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项事业或某人时，可能会触怒团队成员。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6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0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29000"/>
              </a:lnSpc>
              <a:spcBef>
                <a:spcPts val="0"/>
              </a:spcBef>
            </a:pP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对那些迟到、不考虑他人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或只关注任务而忽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视人的团队成员感到恼怒。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44" name="textbox 444"/>
          <p:cNvSpPr/>
          <p:nvPr/>
        </p:nvSpPr>
        <p:spPr>
          <a:xfrm>
            <a:off x="615972" y="14016341"/>
            <a:ext cx="5006975" cy="51657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145" algn="l" rtl="0" eaLnBrk="0">
              <a:lnSpc>
                <a:spcPct val="94000"/>
              </a:lnSpc>
            </a:pPr>
            <a:r>
              <a:rPr sz="2400" b="1" kern="0" spc="-190" dirty="0">
                <a:solidFill>
                  <a:srgbClr val="1080E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作为领导者，</a:t>
            </a:r>
            <a:r>
              <a:rPr sz="2400" kern="0" spc="-190" dirty="0">
                <a:solidFill>
                  <a:srgbClr val="1080E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ENF</a:t>
            </a:r>
            <a:r>
              <a:rPr sz="2400" b="1" kern="0" spc="-190" dirty="0">
                <a:solidFill>
                  <a:srgbClr val="1080E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J</a:t>
            </a:r>
            <a:r>
              <a:rPr sz="2400" b="1" kern="0" spc="-190" dirty="0">
                <a:solidFill>
                  <a:srgbClr val="1080E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通常会：</a:t>
            </a:r>
            <a:endParaRPr sz="2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7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5000"/>
              </a:lnSpc>
              <a:spcBef>
                <a:spcPts val="575"/>
              </a:spcBef>
            </a:pPr>
            <a:r>
              <a:rPr sz="1900" kern="0" spc="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</a:t>
            </a:r>
            <a:r>
              <a:rPr sz="1900" kern="0" spc="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190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满怀热情地展现他们的想法并获取支持。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7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6000"/>
              </a:lnSpc>
              <a:spcBef>
                <a:spcPts val="575"/>
              </a:spcBef>
            </a:pPr>
            <a:r>
              <a:rPr sz="1900" kern="0" spc="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</a:t>
            </a:r>
            <a:r>
              <a:rPr sz="1900" kern="0" spc="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190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鼓励参与并考量所有的想法。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5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590"/>
              </a:lnSpc>
              <a:spcBef>
                <a:spcPts val="575"/>
              </a:spcBef>
            </a:pPr>
            <a:r>
              <a:rPr sz="1900" kern="0" spc="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r>
              <a:rPr sz="1900" kern="0" spc="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1900" kern="0" spc="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协助他人规划并携手努力实现目标。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7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6000"/>
              </a:lnSpc>
              <a:spcBef>
                <a:spcPts val="575"/>
              </a:spcBef>
            </a:pPr>
            <a:r>
              <a:rPr sz="1900" kern="0" spc="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r>
              <a:rPr sz="1900" kern="0" spc="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190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在对立观点之间构建共识。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4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590"/>
              </a:lnSpc>
              <a:spcBef>
                <a:spcPts val="575"/>
              </a:spcBef>
            </a:pPr>
            <a:r>
              <a:rPr sz="1900" kern="0" spc="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5</a:t>
            </a:r>
            <a:r>
              <a:rPr sz="1900" kern="0" spc="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1900" kern="0" spc="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了解每个成员拥有的的技能和能力。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4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590"/>
              </a:lnSpc>
              <a:spcBef>
                <a:spcPts val="570"/>
              </a:spcBef>
            </a:pPr>
            <a:r>
              <a:rPr sz="1900" kern="0" spc="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6</a:t>
            </a:r>
            <a:r>
              <a:rPr sz="1900" kern="0" spc="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1900" kern="0" spc="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清晰传达完成任务所需要的步骤。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6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0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29000"/>
              </a:lnSpc>
              <a:spcBef>
                <a:spcPts val="0"/>
              </a:spcBef>
            </a:pP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7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需要有意识地强化与他人之间的规则和界</a:t>
            </a:r>
            <a:r>
              <a:rPr sz="190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900" kern="0" spc="-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限</a:t>
            </a:r>
            <a:r>
              <a:rPr sz="1900" kern="0" spc="-3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900" kern="0" spc="-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46" name="textbox 446"/>
          <p:cNvSpPr/>
          <p:nvPr/>
        </p:nvSpPr>
        <p:spPr>
          <a:xfrm>
            <a:off x="615972" y="20896372"/>
            <a:ext cx="5255259" cy="9544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6510" algn="l" rtl="0" eaLnBrk="0">
              <a:lnSpc>
                <a:spcPts val="2805"/>
              </a:lnSpc>
            </a:pPr>
            <a:r>
              <a:rPr sz="2300" b="1" kern="0" spc="-200" dirty="0">
                <a:solidFill>
                  <a:srgbClr val="1080E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挑战和成长机会：</a:t>
            </a:r>
            <a:endParaRPr sz="2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5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9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  <a:spcBef>
                <a:spcPts val="5"/>
              </a:spcBef>
            </a:pP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ENFJ</a:t>
            </a:r>
            <a:r>
              <a:rPr sz="1900" kern="0" spc="-1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非常重视工作能不能带来成长，所以他们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48" name="textbox 448"/>
          <p:cNvSpPr/>
          <p:nvPr/>
        </p:nvSpPr>
        <p:spPr>
          <a:xfrm>
            <a:off x="615972" y="11532282"/>
            <a:ext cx="5287009" cy="7321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</a:pP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需要允许人们做出自己的选择，并从错误中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ts val="3630"/>
              </a:lnSpc>
            </a:pPr>
            <a:r>
              <a:rPr sz="1800" kern="0" spc="-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学习。</a:t>
            </a:r>
            <a:endParaRPr sz="1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50" name="textbox 450"/>
          <p:cNvSpPr/>
          <p:nvPr/>
        </p:nvSpPr>
        <p:spPr>
          <a:xfrm>
            <a:off x="615972" y="267552"/>
            <a:ext cx="5380990" cy="6959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</a:pP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们心力憔悴。同时在决策时会受到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感情影响，仓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ts val="3350"/>
              </a:lnSpc>
            </a:pPr>
            <a:r>
              <a:rPr sz="1900" kern="0" spc="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促决策，从而忽视了</a:t>
            </a:r>
            <a:r>
              <a:rPr sz="1900" kern="0" spc="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更为客观的逻辑分析。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104" name="group 104"/>
          <p:cNvGrpSpPr/>
          <p:nvPr/>
        </p:nvGrpSpPr>
        <p:grpSpPr>
          <a:xfrm rot="21600000">
            <a:off x="368274" y="1603455"/>
            <a:ext cx="3308367" cy="723906"/>
            <a:chOff x="0" y="0"/>
            <a:chExt cx="3308367" cy="723906"/>
          </a:xfrm>
        </p:grpSpPr>
        <p:pic>
          <p:nvPicPr>
            <p:cNvPr id="452" name="picture 45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rot="21600000">
              <a:off x="0" y="0"/>
              <a:ext cx="3308367" cy="723906"/>
            </a:xfrm>
            <a:prstGeom prst="rect">
              <a:avLst/>
            </a:prstGeom>
          </p:spPr>
        </p:pic>
        <p:sp>
          <p:nvSpPr>
            <p:cNvPr id="454" name="textbox 454"/>
            <p:cNvSpPr/>
            <p:nvPr/>
          </p:nvSpPr>
          <p:spPr>
            <a:xfrm>
              <a:off x="-12700" y="-12700"/>
              <a:ext cx="3334384" cy="78930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3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96850" algn="l" rtl="0" eaLnBrk="0">
                <a:lnSpc>
                  <a:spcPct val="97000"/>
                </a:lnSpc>
                <a:spcBef>
                  <a:spcPts val="5"/>
                </a:spcBef>
              </a:pPr>
              <a:r>
                <a:rPr sz="2400" kern="0" spc="-10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作为团队成员的</a:t>
              </a:r>
              <a:r>
                <a:rPr sz="2400" kern="0" spc="-100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ENFJ</a:t>
              </a:r>
              <a:endParaRPr sz="24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06" name="group 106"/>
          <p:cNvGrpSpPr/>
          <p:nvPr/>
        </p:nvGrpSpPr>
        <p:grpSpPr>
          <a:xfrm rot="21600000">
            <a:off x="368274" y="12906419"/>
            <a:ext cx="3308367" cy="723906"/>
            <a:chOff x="0" y="0"/>
            <a:chExt cx="3308367" cy="723906"/>
          </a:xfrm>
        </p:grpSpPr>
        <p:pic>
          <p:nvPicPr>
            <p:cNvPr id="456" name="picture 45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3308367" cy="723906"/>
            </a:xfrm>
            <a:prstGeom prst="rect">
              <a:avLst/>
            </a:prstGeom>
          </p:spPr>
        </p:pic>
        <p:sp>
          <p:nvSpPr>
            <p:cNvPr id="458" name="textbox 458"/>
            <p:cNvSpPr/>
            <p:nvPr/>
          </p:nvSpPr>
          <p:spPr>
            <a:xfrm>
              <a:off x="-12700" y="-12700"/>
              <a:ext cx="3334384" cy="79057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2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96850" algn="l" rtl="0" eaLnBrk="0">
                <a:lnSpc>
                  <a:spcPct val="98000"/>
                </a:lnSpc>
                <a:spcBef>
                  <a:spcPts val="0"/>
                </a:spcBef>
              </a:pPr>
              <a:r>
                <a:rPr sz="2400" kern="0" spc="-10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作为团队领导的</a:t>
              </a:r>
              <a:r>
                <a:rPr sz="2400" kern="0" spc="-100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ENFJ</a:t>
              </a:r>
              <a:endParaRPr sz="24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08" name="group 108"/>
          <p:cNvGrpSpPr/>
          <p:nvPr/>
        </p:nvGrpSpPr>
        <p:grpSpPr>
          <a:xfrm rot="21600000">
            <a:off x="368274" y="19757931"/>
            <a:ext cx="2571750" cy="736652"/>
            <a:chOff x="0" y="0"/>
            <a:chExt cx="2571750" cy="736652"/>
          </a:xfrm>
        </p:grpSpPr>
        <p:pic>
          <p:nvPicPr>
            <p:cNvPr id="460" name="picture 46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2571750" cy="736652"/>
            </a:xfrm>
            <a:prstGeom prst="rect">
              <a:avLst/>
            </a:prstGeom>
          </p:spPr>
        </p:pic>
        <p:sp>
          <p:nvSpPr>
            <p:cNvPr id="462" name="textbox 462"/>
            <p:cNvSpPr/>
            <p:nvPr/>
          </p:nvSpPr>
          <p:spPr>
            <a:xfrm>
              <a:off x="-12700" y="-12700"/>
              <a:ext cx="2597150" cy="80327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28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7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00660" algn="l" rtl="0" eaLnBrk="0">
                <a:lnSpc>
                  <a:spcPct val="98000"/>
                </a:lnSpc>
              </a:pPr>
              <a:r>
                <a:rPr sz="2400" b="1" kern="0" spc="-10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适合的工作环境</a:t>
              </a:r>
              <a:endParaRPr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513</Words>
  <Application>WPS 演示</Application>
  <PresentationFormat/>
  <Paragraphs>59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Arial</vt:lpstr>
      <vt:lpstr>黑体</vt:lpstr>
      <vt:lpstr>Times New Roman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商显厂家 李工13246883050</cp:lastModifiedBy>
  <cp:revision>2</cp:revision>
  <dcterms:created xsi:type="dcterms:W3CDTF">2026-06-05T06:34:00Z</dcterms:created>
  <dcterms:modified xsi:type="dcterms:W3CDTF">2026-06-05T06:35:26Z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wqlLaW5nc29mdCBQREYgdG8gV1BTIDExMEI</vt:lpwstr>
  </property>
  <property fmtid="{D5CDD505-2E9C-101B-9397-08002B2CF9AE}" pid="3" name="Created">
    <vt:filetime>2026-06-05T22:23:06Z</vt:filetime>
  </property>
  <property fmtid="{D5CDD505-2E9C-101B-9397-08002B2CF9AE}" pid="4" name="UsrData">
    <vt:lpwstr>6a226b32bfaa9e001f1e18f2wl</vt:lpwstr>
  </property>
  <property fmtid="{D5CDD505-2E9C-101B-9397-08002B2CF9AE}" pid="5" name="KSOProductBuildVer">
    <vt:lpwstr>2052-12.1.0.26375</vt:lpwstr>
  </property>
  <property fmtid="{D5CDD505-2E9C-101B-9397-08002B2CF9AE}" pid="6" name="ICV">
    <vt:lpwstr>6F1C3CC4AD0A4E5CB61C0F13F598EDD2_12</vt:lpwstr>
  </property>
</Properties>
</file>