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box 564"/>
          <p:cNvSpPr/>
          <p:nvPr/>
        </p:nvSpPr>
        <p:spPr>
          <a:xfrm>
            <a:off x="546089" y="98042"/>
            <a:ext cx="5456554" cy="73094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98000"/>
              </a:lnSpc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够吸引和影响观众。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60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4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教育家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94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关心他人成长，能够激发学生的潜力，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ct val="147000"/>
              </a:lnSpc>
              <a:spcBef>
                <a:spcPts val="6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为学生和家长提供教育咨询服务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，帮助他们做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出关于教育和职业发展的决策。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60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7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销售经理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具有出色的人际交往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能力，能够成功推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635"/>
              </a:lnSpc>
            </a:pP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销产品和服务。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60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8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社区活动组织者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富有创意和组织能力，可以策划和执行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ct val="153000"/>
              </a:lnSpc>
              <a:spcBef>
                <a:spcPts val="4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各种社区活动和项目，促进社区成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员之间的互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动和合作，能够打造令人难忘的活动。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66" name="picture 5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8789" y="5651571"/>
            <a:ext cx="184137" cy="203034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8789" y="3606848"/>
            <a:ext cx="184137" cy="203255"/>
          </a:xfrm>
          <a:prstGeom prst="rect">
            <a:avLst/>
          </a:prstGeom>
        </p:spPr>
      </p:pic>
      <p:pic>
        <p:nvPicPr>
          <p:cNvPr id="570" name="picture 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8789" y="1111161"/>
            <a:ext cx="184137" cy="216084"/>
          </a:xfrm>
          <a:prstGeom prst="rect">
            <a:avLst/>
          </a:prstGeom>
        </p:spPr>
      </p:pic>
      <p:sp>
        <p:nvSpPr>
          <p:cNvPr id="572" name="textbox 572"/>
          <p:cNvSpPr/>
          <p:nvPr/>
        </p:nvSpPr>
        <p:spPr>
          <a:xfrm>
            <a:off x="546089" y="8047273"/>
            <a:ext cx="5445759" cy="549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tabLst>
                <a:tab pos="34607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20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心理咨询师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具备强烈的同理心，能够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提供心理咨询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400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和支持，帮助他人解决问题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55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2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80" dirty="0">
                <a:solidFill>
                  <a:srgbClr val="2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律师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的表达能力强，可以在法庭上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有说服力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505"/>
              </a:lnSpc>
            </a:pPr>
            <a:r>
              <a:rPr sz="19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和坚定信念。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0" algn="l" rtl="0" eaLnBrk="0">
              <a:lnSpc>
                <a:spcPct val="95000"/>
              </a:lnSpc>
              <a:spcBef>
                <a:spcPts val="755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20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人力资源专员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比较适合负责招聘、培训和员工发展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535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可以促进员工的职业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生涯发展和工作满意度。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8789" y="12230065"/>
            <a:ext cx="190515" cy="215862"/>
          </a:xfrm>
          <a:prstGeom prst="rect">
            <a:avLst/>
          </a:prstGeom>
        </p:spPr>
      </p:pic>
      <p:pic>
        <p:nvPicPr>
          <p:cNvPr id="576" name="picture 5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8789" y="10185344"/>
            <a:ext cx="184137" cy="203255"/>
          </a:xfrm>
          <a:prstGeom prst="rect">
            <a:avLst/>
          </a:prstGeom>
        </p:spPr>
      </p:pic>
      <p:pic>
        <p:nvPicPr>
          <p:cNvPr id="578" name="picture 5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8789" y="8140622"/>
            <a:ext cx="184137" cy="196842"/>
          </a:xfrm>
          <a:prstGeom prst="rect">
            <a:avLst/>
          </a:prstGeom>
        </p:spPr>
      </p:pic>
      <p:sp>
        <p:nvSpPr>
          <p:cNvPr id="580" name="textbox 580"/>
          <p:cNvSpPr/>
          <p:nvPr/>
        </p:nvSpPr>
        <p:spPr>
          <a:xfrm>
            <a:off x="552467" y="17881165"/>
            <a:ext cx="5446395" cy="3872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tabLst>
                <a:tab pos="33972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3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915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长期在实验室中独自工作，会让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缺乏与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35915" algn="l" rtl="0" eaLnBrk="0">
              <a:lnSpc>
                <a:spcPts val="3385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他人交流和合作的机会。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spcBef>
                <a:spcPts val="760"/>
              </a:spcBef>
              <a:tabLst>
                <a:tab pos="33972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21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金融专员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这类工作需要在高压力和竞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争激烈的环境中工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35915" algn="l" rtl="0" eaLnBrk="0">
              <a:lnSpc>
                <a:spcPct val="156000"/>
              </a:lnSpc>
              <a:spcBef>
                <a:spcPts val="3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作，是缺乏人道主义价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值观的工作环境，不符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的性格。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2" name="picture 5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5167" y="19989832"/>
            <a:ext cx="184137" cy="209448"/>
          </a:xfrm>
          <a:prstGeom prst="rect">
            <a:avLst/>
          </a:prstGeom>
        </p:spPr>
      </p:pic>
      <p:pic>
        <p:nvPicPr>
          <p:cNvPr id="584" name="picture 5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65167" y="17951524"/>
            <a:ext cx="184137" cy="203034"/>
          </a:xfrm>
          <a:prstGeom prst="rect">
            <a:avLst/>
          </a:prstGeom>
        </p:spPr>
      </p:pic>
      <p:sp>
        <p:nvSpPr>
          <p:cNvPr id="586" name="textbox 586"/>
          <p:cNvSpPr/>
          <p:nvPr/>
        </p:nvSpPr>
        <p:spPr>
          <a:xfrm>
            <a:off x="876302" y="14191822"/>
            <a:ext cx="5122545" cy="1859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</a:pPr>
            <a:r>
              <a:rPr sz="2500" b="1" kern="0" spc="-21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志愿者协调员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擅长组织和管理团队，让他们来策划和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2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执行各种志愿者活动，可以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推动社区服务和公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益事业。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54" name="group 154"/>
          <p:cNvGrpSpPr/>
          <p:nvPr/>
        </p:nvGrpSpPr>
        <p:grpSpPr>
          <a:xfrm rot="21600000">
            <a:off x="349277" y="16833950"/>
            <a:ext cx="1714500" cy="723891"/>
            <a:chOff x="0" y="0"/>
            <a:chExt cx="1714500" cy="723891"/>
          </a:xfrm>
        </p:grpSpPr>
        <p:pic>
          <p:nvPicPr>
            <p:cNvPr id="588" name="picture 58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714500" cy="723891"/>
            </a:xfrm>
            <a:prstGeom prst="rect">
              <a:avLst/>
            </a:prstGeom>
          </p:spPr>
        </p:pic>
        <p:sp>
          <p:nvSpPr>
            <p:cNvPr id="590" name="textbox 590"/>
            <p:cNvSpPr/>
            <p:nvPr/>
          </p:nvSpPr>
          <p:spPr>
            <a:xfrm>
              <a:off x="-12700" y="-12700"/>
              <a:ext cx="1739900" cy="789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2565" algn="l" rtl="0" eaLnBrk="0">
                <a:lnSpc>
                  <a:spcPct val="96000"/>
                </a:lnSpc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职业避雷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WPS 演示</Application>
  <PresentationFormat/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