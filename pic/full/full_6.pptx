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1" r:id="rId3"/>
  </p:sldIdLst>
  <p:sldSz cx="6858000" cy="2211705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jpe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11.jpeg"/><Relationship Id="rId10" Type="http://schemas.openxmlformats.org/officeDocument/2006/relationships/image" Target="../media/image10.jpe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0" name="picture 38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49277" y="15611533"/>
            <a:ext cx="6483347" cy="6369003"/>
          </a:xfrm>
          <a:prstGeom prst="rect">
            <a:avLst/>
          </a:prstGeom>
        </p:spPr>
      </p:pic>
      <p:graphicFrame>
        <p:nvGraphicFramePr>
          <p:cNvPr id="382" name="table 382"/>
          <p:cNvGraphicFramePr>
            <a:graphicFrameLocks noGrp="1"/>
          </p:cNvGraphicFramePr>
          <p:nvPr/>
        </p:nvGraphicFramePr>
        <p:xfrm>
          <a:off x="546101" y="16338301"/>
          <a:ext cx="6209029" cy="5647054"/>
        </p:xfrm>
        <a:graphic>
          <a:graphicData uri="http://schemas.openxmlformats.org/drawingml/2006/table">
            <a:tbl>
              <a:tblPr/>
              <a:tblGrid>
                <a:gridCol w="5693409"/>
                <a:gridCol w="515619"/>
              </a:tblGrid>
              <a:tr h="3225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6000"/>
                        </a:lnSpc>
                      </a:pPr>
                      <a:r>
                        <a:rPr sz="2400" b="1" kern="0" spc="-1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ENFJ</a:t>
                      </a:r>
                      <a:r>
                        <a:rPr sz="2400" b="1" kern="0" spc="-1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的职业性格</a:t>
                      </a:r>
                      <a:endParaRPr sz="24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280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45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r" rtl="0" eaLnBrk="0">
                        <a:lnSpc>
                          <a:spcPts val="4660"/>
                        </a:lnSpc>
                      </a:pPr>
                      <a:r>
                        <a:rPr sz="11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报告</a:t>
                      </a:r>
                      <a:endParaRPr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4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8265" algn="l" rtl="0" eaLnBrk="0">
                        <a:lnSpc>
                          <a:spcPct val="98000"/>
                        </a:lnSpc>
                        <a:spcBef>
                          <a:spcPts val="0"/>
                        </a:spcBef>
                      </a:pPr>
                      <a:r>
                        <a:rPr sz="2200" kern="0" spc="90" dirty="0">
                          <a:solidFill>
                            <a:srgbClr val="0090F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优势：</a:t>
                      </a:r>
                      <a:r>
                        <a:rPr sz="2200" kern="0" spc="90" dirty="0">
                          <a:solidFill>
                            <a:srgbClr val="1080E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领导才能、掌控全局</a:t>
                      </a:r>
                      <a:endParaRPr sz="22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2087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5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8265" algn="l" rtl="0" eaLnBrk="0">
                        <a:lnSpc>
                          <a:spcPct val="147000"/>
                        </a:lnSpc>
                      </a:pPr>
                      <a:r>
                        <a:rPr sz="1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ENFJ</a:t>
                      </a:r>
                      <a:r>
                        <a:rPr sz="19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与生俱来就拥有卓越的领导能</a:t>
                      </a:r>
                      <a:r>
                        <a:rPr sz="19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力，能够凭</a:t>
                      </a:r>
                      <a:r>
                        <a:rPr sz="1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   </a:t>
                      </a:r>
                      <a:r>
                        <a:rPr sz="19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借积极且热情的姿态带领团队向前迈进。他们善</a:t>
                      </a:r>
                      <a:r>
                        <a:rPr sz="1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  </a:t>
                      </a:r>
                      <a:r>
                        <a:rPr sz="19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于激发并鼓励团队成员将自身最大的潜</a:t>
                      </a:r>
                      <a:r>
                        <a:rPr sz="19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能发挥出</a:t>
                      </a:r>
                      <a:r>
                        <a:rPr sz="1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  </a:t>
                      </a:r>
                      <a:r>
                        <a:rPr sz="19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来。他们精于协调各类</a:t>
                      </a:r>
                      <a:r>
                        <a:rPr sz="19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资源与关系，制定详细的</a:t>
                      </a:r>
                      <a:r>
                        <a:rPr sz="1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  </a:t>
                      </a:r>
                      <a:r>
                        <a:rPr sz="19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计划统揽全局，以此保障工作能</a:t>
                      </a:r>
                      <a:r>
                        <a:rPr sz="19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够顺畅开展。</a:t>
                      </a:r>
                      <a:endParaRPr sz="19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algn="l" rtl="0" eaLnBrk="0">
                        <a:lnSpc>
                          <a:spcPct val="14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4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2710" algn="l" rtl="0" eaLnBrk="0">
                        <a:lnSpc>
                          <a:spcPct val="97000"/>
                        </a:lnSpc>
                        <a:spcBef>
                          <a:spcPts val="720"/>
                        </a:spcBef>
                      </a:pPr>
                      <a:r>
                        <a:rPr sz="2400" b="1" kern="0" spc="-110" dirty="0">
                          <a:solidFill>
                            <a:srgbClr val="1080E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劣势：</a:t>
                      </a:r>
                      <a:r>
                        <a:rPr sz="2400" b="1" kern="0" spc="-110" dirty="0">
                          <a:solidFill>
                            <a:srgbClr val="0090F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抗压较弱、感性决策</a:t>
                      </a:r>
                      <a:endParaRPr sz="24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algn="l" rtl="0" eaLnBrk="0">
                        <a:lnSpc>
                          <a:spcPct val="15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8265" algn="l" rtl="0" eaLnBrk="0">
                        <a:lnSpc>
                          <a:spcPct val="87000"/>
                        </a:lnSpc>
                        <a:spcBef>
                          <a:spcPts val="570"/>
                        </a:spcBef>
                      </a:pPr>
                      <a:r>
                        <a:rPr sz="1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ENFJ</a:t>
                      </a:r>
                      <a:r>
                        <a:rPr sz="19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9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在竞争激烈、氛围紧张的工作</a:t>
                      </a:r>
                      <a:r>
                        <a:rPr sz="19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环境中会感</a:t>
                      </a:r>
                      <a:endParaRPr sz="19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marL="88265" algn="l" rtl="0" eaLnBrk="0">
                        <a:lnSpc>
                          <a:spcPts val="3525"/>
                        </a:lnSpc>
                      </a:pPr>
                      <a:r>
                        <a:rPr sz="19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到不适，长期处于高强度的工作状态可能致使他</a:t>
                      </a:r>
                      <a:endParaRPr sz="19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2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r" rtl="0" eaLnBrk="0">
                        <a:lnSpc>
                          <a:spcPct val="89000"/>
                        </a:lnSpc>
                      </a:pPr>
                      <a:r>
                        <a:rPr sz="1900" kern="0" spc="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维</a:t>
                      </a:r>
                      <a:r>
                        <a:rPr sz="1900" kern="0" spc="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           </a:t>
                      </a:r>
                      <a:r>
                        <a:rPr sz="1900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      </a:t>
                      </a:r>
                      <a:r>
                        <a:rPr sz="2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职场优势</a:t>
                      </a:r>
                      <a:endParaRPr sz="2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eaVer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384" name="textbox 384"/>
          <p:cNvSpPr/>
          <p:nvPr/>
        </p:nvSpPr>
        <p:spPr>
          <a:xfrm>
            <a:off x="622282" y="2248549"/>
            <a:ext cx="5109209" cy="27870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</a:t>
            </a:r>
            <a:r>
              <a:rPr sz="1900" kern="0" spc="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让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r>
              <a:rPr sz="1900" kern="0" spc="-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900" kern="0" spc="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能够充分享受当下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的现实体验，对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65000"/>
              </a:lnSpc>
              <a:spcBef>
                <a:spcPts val="25"/>
              </a:spcBef>
            </a:pP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周围的环境和细节有一定的关注，</a:t>
            </a:r>
            <a:r>
              <a:rPr sz="19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使他们在行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动中更具现实性和灵活性。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7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  <a:spcBef>
                <a:spcPts val="580"/>
              </a:spcBef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也使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r>
              <a:rPr sz="19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能够更好地适应外部变化，及时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65000"/>
              </a:lnSpc>
              <a:spcBef>
                <a:spcPts val="40"/>
              </a:spcBef>
            </a:pP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调整策略和行动，但有时可能会过于追求当下</a:t>
            </a:r>
            <a:r>
              <a:rPr sz="19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的刺激和享受。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86" name="textbox 386"/>
          <p:cNvSpPr/>
          <p:nvPr/>
        </p:nvSpPr>
        <p:spPr>
          <a:xfrm>
            <a:off x="622282" y="7220599"/>
            <a:ext cx="5233670" cy="22942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Ti</a:t>
            </a:r>
            <a:r>
              <a:rPr sz="1900" kern="0" spc="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为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r>
              <a:rPr sz="1900" kern="0" spc="-1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900" kern="0" spc="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带来了一定的内在逻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辑分析能力，帮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65000"/>
              </a:lnSpc>
              <a:spcBef>
                <a:spcPts val="25"/>
              </a:spcBef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助他们在做决策和判断时进行理性思考，对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自</a:t>
            </a:r>
            <a:r>
              <a:rPr sz="19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己的情感判断进行一定</a:t>
            </a:r>
            <a:r>
              <a:rPr sz="19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的审视和平衡。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7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  <a:spcBef>
                <a:spcPts val="570"/>
              </a:spcBef>
            </a:pPr>
            <a:r>
              <a:rPr sz="1900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然而，与以思维功能为主导的类型相比，</a:t>
            </a:r>
            <a:r>
              <a:rPr sz="1900" kern="0" spc="-1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endParaRPr sz="1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3635"/>
              </a:lnSpc>
            </a:pP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在运用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Ti</a:t>
            </a: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时可能相对不够深入和系统。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92" name="group 92"/>
          <p:cNvGrpSpPr/>
          <p:nvPr/>
        </p:nvGrpSpPr>
        <p:grpSpPr>
          <a:xfrm rot="21600000">
            <a:off x="374652" y="6029362"/>
            <a:ext cx="5994371" cy="831738"/>
            <a:chOff x="0" y="0"/>
            <a:chExt cx="5994371" cy="831738"/>
          </a:xfrm>
        </p:grpSpPr>
        <p:pic>
          <p:nvPicPr>
            <p:cNvPr id="392" name="picture 39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5994371" cy="831738"/>
            </a:xfrm>
            <a:prstGeom prst="rect">
              <a:avLst/>
            </a:prstGeom>
          </p:spPr>
        </p:pic>
        <p:sp>
          <p:nvSpPr>
            <p:cNvPr id="394" name="textbox 394"/>
            <p:cNvSpPr/>
            <p:nvPr/>
          </p:nvSpPr>
          <p:spPr>
            <a:xfrm>
              <a:off x="-12700" y="-12700"/>
              <a:ext cx="6019800" cy="8972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622300" algn="l" rtl="0" eaLnBrk="0">
                <a:lnSpc>
                  <a:spcPct val="97000"/>
                </a:lnSpc>
                <a:spcBef>
                  <a:spcPts val="0"/>
                </a:spcBef>
              </a:pPr>
              <a:r>
                <a:rPr sz="2400" kern="0" spc="-13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盲点功能：</a:t>
              </a:r>
              <a:r>
                <a:rPr sz="2400" kern="0" spc="-13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Ti </a:t>
              </a:r>
              <a:r>
                <a:rPr sz="2400" kern="0" spc="-13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(内倾</a:t>
              </a:r>
              <a:r>
                <a:rPr sz="2400" kern="0" spc="-14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思考)</a:t>
              </a:r>
              <a:endParaRPr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grpSp>
        <p:nvGrpSpPr>
          <p:cNvPr id="94" name="group 94"/>
          <p:cNvGrpSpPr/>
          <p:nvPr/>
        </p:nvGrpSpPr>
        <p:grpSpPr>
          <a:xfrm rot="21600000">
            <a:off x="374652" y="1063656"/>
            <a:ext cx="5975375" cy="806355"/>
            <a:chOff x="0" y="0"/>
            <a:chExt cx="5975375" cy="806355"/>
          </a:xfrm>
        </p:grpSpPr>
        <p:pic>
          <p:nvPicPr>
            <p:cNvPr id="396" name="picture 39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5975375" cy="806355"/>
            </a:xfrm>
            <a:prstGeom prst="rect">
              <a:avLst/>
            </a:prstGeom>
          </p:spPr>
        </p:pic>
        <p:sp>
          <p:nvSpPr>
            <p:cNvPr id="398" name="textbox 398"/>
            <p:cNvSpPr/>
            <p:nvPr/>
          </p:nvSpPr>
          <p:spPr>
            <a:xfrm>
              <a:off x="-12700" y="-12700"/>
              <a:ext cx="6001384" cy="8318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4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638810" algn="l" rtl="0" eaLnBrk="0">
                <a:lnSpc>
                  <a:spcPts val="3340"/>
                </a:lnSpc>
                <a:spcBef>
                  <a:spcPts val="5"/>
                </a:spcBef>
              </a:pPr>
              <a:r>
                <a:rPr sz="2400" b="1" kern="0" spc="-8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防卫功能：</a:t>
              </a:r>
              <a:r>
                <a:rPr sz="2400" kern="0" spc="-8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Se(</a:t>
              </a:r>
              <a:r>
                <a:rPr sz="2400" b="1" kern="0" spc="-8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外倾实感)</a:t>
              </a:r>
              <a:endParaRPr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pic>
        <p:nvPicPr>
          <p:cNvPr id="400" name="picture 40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74652" y="14506488"/>
            <a:ext cx="4025919" cy="533486"/>
          </a:xfrm>
          <a:prstGeom prst="rect">
            <a:avLst/>
          </a:prstGeom>
        </p:spPr>
      </p:pic>
      <p:sp>
        <p:nvSpPr>
          <p:cNvPr id="402" name="textbox 402"/>
          <p:cNvSpPr/>
          <p:nvPr/>
        </p:nvSpPr>
        <p:spPr>
          <a:xfrm>
            <a:off x="4591053" y="14583283"/>
            <a:ext cx="1819275" cy="5403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</a:pPr>
            <a:r>
              <a:rPr sz="3500" b="1" kern="0" spc="10" dirty="0">
                <a:solidFill>
                  <a:srgbClr val="F08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职业探索</a:t>
            </a:r>
            <a:endParaRPr sz="3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22" name="textbox 422"/>
          <p:cNvSpPr/>
          <p:nvPr/>
        </p:nvSpPr>
        <p:spPr>
          <a:xfrm>
            <a:off x="3930650" y="14085699"/>
            <a:ext cx="2468879" cy="263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7000"/>
              </a:lnSpc>
            </a:pPr>
            <a:r>
              <a:rPr sz="1800" kern="0" spc="-100" dirty="0">
                <a:solidFill>
                  <a:srgbClr val="F0C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CAREER</a:t>
            </a:r>
            <a:r>
              <a:rPr sz="1800" kern="0" spc="120" dirty="0">
                <a:solidFill>
                  <a:srgbClr val="F0C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800" kern="0" spc="-100" dirty="0">
                <a:solidFill>
                  <a:srgbClr val="F0C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EXPLORATION</a:t>
            </a:r>
            <a:endParaRPr sz="18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428" name="picture 4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38157" y="5451456"/>
            <a:ext cx="5861052" cy="19036"/>
          </a:xfrm>
          <a:prstGeom prst="rect">
            <a:avLst/>
          </a:prstGeom>
        </p:spPr>
      </p:pic>
      <p:pic>
        <p:nvPicPr>
          <p:cNvPr id="430" name="picture 43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50844" y="9972735"/>
            <a:ext cx="5848365" cy="12691"/>
          </a:xfrm>
          <a:prstGeom prst="rect">
            <a:avLst/>
          </a:prstGeom>
        </p:spPr>
      </p:pic>
      <p:pic>
        <p:nvPicPr>
          <p:cNvPr id="432" name="picture 4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381780" y="1495390"/>
            <a:ext cx="12687" cy="3841839"/>
          </a:xfrm>
          <a:prstGeom prst="rect">
            <a:avLst/>
          </a:prstGeom>
        </p:spPr>
      </p:pic>
      <p:pic>
        <p:nvPicPr>
          <p:cNvPr id="434" name="picture 43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5097761" y="12385674"/>
            <a:ext cx="24554" cy="11634"/>
          </a:xfrm>
          <a:prstGeom prst="rect">
            <a:avLst/>
          </a:prstGeom>
        </p:spPr>
      </p:pic>
      <p:pic>
        <p:nvPicPr>
          <p:cNvPr id="436" name="picture 43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358790" y="1196919"/>
            <a:ext cx="6350" cy="4178386"/>
          </a:xfrm>
          <a:prstGeom prst="rect">
            <a:avLst/>
          </a:prstGeom>
        </p:spPr>
      </p:pic>
      <p:pic>
        <p:nvPicPr>
          <p:cNvPr id="438" name="picture 43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358790" y="6168969"/>
            <a:ext cx="6350" cy="3727396"/>
          </a:xfrm>
          <a:prstGeom prst="rect">
            <a:avLst/>
          </a:prstGeom>
        </p:spPr>
      </p:pic>
      <p:pic>
        <p:nvPicPr>
          <p:cNvPr id="440" name="picture 44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358790" y="117475"/>
            <a:ext cx="6350" cy="2857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492</Words>
  <Application>WPS 演示</Application>
  <PresentationFormat/>
  <Paragraphs>37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Arial</vt:lpstr>
      <vt:lpstr>黑体</vt:lpstr>
      <vt:lpstr>Times New Roman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商显厂家 李工13246883050</cp:lastModifiedBy>
  <cp:revision>2</cp:revision>
  <dcterms:created xsi:type="dcterms:W3CDTF">2026-06-05T06:34:00Z</dcterms:created>
  <dcterms:modified xsi:type="dcterms:W3CDTF">2026-06-05T06:35:26Z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wqlLaW5nc29mdCBQREYgdG8gV1BTIDExMEI</vt:lpwstr>
  </property>
  <property fmtid="{D5CDD505-2E9C-101B-9397-08002B2CF9AE}" pid="3" name="Created">
    <vt:filetime>2026-06-05T22:23:06Z</vt:filetime>
  </property>
  <property fmtid="{D5CDD505-2E9C-101B-9397-08002B2CF9AE}" pid="4" name="UsrData">
    <vt:lpwstr>6a226b32bfaa9e001f1e18f2wl</vt:lpwstr>
  </property>
  <property fmtid="{D5CDD505-2E9C-101B-9397-08002B2CF9AE}" pid="5" name="KSOProductBuildVer">
    <vt:lpwstr>2052-12.1.0.26375</vt:lpwstr>
  </property>
  <property fmtid="{D5CDD505-2E9C-101B-9397-08002B2CF9AE}" pid="6" name="ICV">
    <vt:lpwstr>6F1C3CC4AD0A4E5CB61C0F13F598EDD2_12</vt:lpwstr>
  </property>
</Properties>
</file>