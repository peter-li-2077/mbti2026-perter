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3"/>
  </p:sldIdLst>
  <p:sldSz cx="6858000" cy="221170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4"/>
          <p:cNvGrpSpPr/>
          <p:nvPr/>
        </p:nvGrpSpPr>
        <p:grpSpPr>
          <a:xfrm rot="21600000">
            <a:off x="355587" y="476192"/>
            <a:ext cx="6464282" cy="7924801"/>
            <a:chOff x="0" y="0"/>
            <a:chExt cx="6464282" cy="7924801"/>
          </a:xfrm>
        </p:grpSpPr>
        <p:pic>
          <p:nvPicPr>
            <p:cNvPr id="250" name="picture 25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6464282" cy="7924801"/>
            </a:xfrm>
            <a:prstGeom prst="rect">
              <a:avLst/>
            </a:prstGeom>
          </p:spPr>
        </p:pic>
        <p:sp>
          <p:nvSpPr>
            <p:cNvPr id="252" name="textbox 252"/>
            <p:cNvSpPr/>
            <p:nvPr/>
          </p:nvSpPr>
          <p:spPr>
            <a:xfrm>
              <a:off x="247629" y="465447"/>
              <a:ext cx="5407025" cy="68872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8000"/>
                </a:lnSpc>
              </a:pPr>
              <a:r>
                <a:rPr sz="1900" kern="0" spc="6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自我牺牲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3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575"/>
                </a:spcBef>
              </a:pPr>
              <a:r>
                <a:rPr sz="19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ENFJ</a:t>
              </a:r>
              <a:r>
                <a:rPr sz="1900" kern="0" spc="5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倾向于为他人需要牺牲自己的需求欲望，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12700" algn="l" rtl="0" eaLnBrk="0">
                <a:lnSpc>
                  <a:spcPts val="3430"/>
                </a:lnSpc>
              </a:pPr>
              <a:r>
                <a:rPr sz="1900" kern="0" spc="-2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忽视了自身的健康。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8000"/>
                </a:lnSpc>
                <a:spcBef>
                  <a:spcPts val="575"/>
                </a:spcBef>
              </a:pPr>
              <a:r>
                <a:rPr sz="1900" kern="0" spc="11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控制欲强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3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4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570"/>
                </a:spcBef>
              </a:pPr>
              <a:r>
                <a:rPr sz="19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ENFJ</a:t>
              </a:r>
              <a:r>
                <a:rPr sz="1900" kern="0" spc="13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通常希望帮助他人改进和成长，</a:t>
              </a:r>
              <a:r>
                <a:rPr sz="1900" kern="0" spc="12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可能导致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12700" algn="l" rtl="0" eaLnBrk="0">
                <a:lnSpc>
                  <a:spcPts val="3430"/>
                </a:lnSpc>
              </a:pPr>
              <a:r>
                <a:rPr sz="1900" kern="0" spc="2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过度干涉他人的生活和决策。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8000"/>
                </a:lnSpc>
                <a:spcBef>
                  <a:spcPts val="575"/>
                </a:spcBef>
              </a:pPr>
              <a:r>
                <a:rPr sz="1900" kern="0" spc="10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过分善解人意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3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580"/>
                </a:spcBef>
              </a:pPr>
              <a:r>
                <a:rPr sz="1900" kern="0" spc="9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同情心本是</a:t>
              </a:r>
              <a:r>
                <a:rPr sz="19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ENFJ</a:t>
              </a:r>
              <a:r>
                <a:rPr sz="1900" kern="0" spc="9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900" kern="0" spc="9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的最大优势之一</a:t>
              </a:r>
              <a:r>
                <a:rPr sz="1900" kern="0" spc="8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，但</a:t>
              </a:r>
              <a:r>
                <a:rPr sz="19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ENFJ</a:t>
              </a:r>
              <a:r>
                <a:rPr sz="1900" kern="0" spc="-1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900" kern="0" spc="8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往往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12700" algn="l" rtl="0" eaLnBrk="0">
                <a:lnSpc>
                  <a:spcPct val="154000"/>
                </a:lnSpc>
                <a:spcBef>
                  <a:spcPts val="10"/>
                </a:spcBef>
              </a:pPr>
              <a:r>
                <a:rPr sz="1900" kern="0" spc="1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倾向把别人的问题当作自己</a:t>
              </a:r>
              <a:r>
                <a:rPr sz="1900" kern="0" spc="10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的问题，这种习惯会</a:t>
              </a:r>
              <a:r>
                <a:rPr sz="1900" kern="0" spc="-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sz="1900" kern="0" spc="9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让他们身心疲惫。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 rot="21600000">
            <a:off x="368274" y="11118849"/>
            <a:ext cx="6451595" cy="2508339"/>
            <a:chOff x="0" y="0"/>
            <a:chExt cx="6451595" cy="2508339"/>
          </a:xfrm>
        </p:grpSpPr>
        <p:pic>
          <p:nvPicPr>
            <p:cNvPr id="254" name="picture 25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6451595" cy="2508339"/>
            </a:xfrm>
            <a:prstGeom prst="rect">
              <a:avLst/>
            </a:prstGeom>
          </p:spPr>
        </p:pic>
        <p:sp>
          <p:nvSpPr>
            <p:cNvPr id="256" name="textbox 256"/>
            <p:cNvSpPr/>
            <p:nvPr/>
          </p:nvSpPr>
          <p:spPr>
            <a:xfrm>
              <a:off x="234942" y="164296"/>
              <a:ext cx="5126354" cy="19926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9000"/>
                </a:lnSpc>
              </a:pPr>
              <a:r>
                <a:rPr sz="1900" kern="0" spc="12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苛求他人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2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580"/>
                </a:spcBef>
              </a:pPr>
              <a:r>
                <a:rPr sz="1900" kern="0" spc="7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在自我提升方面，</a:t>
              </a:r>
              <a:r>
                <a:rPr sz="1900" kern="0" spc="-45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sz="19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ENFJ</a:t>
              </a:r>
              <a:r>
                <a:rPr sz="1900" kern="0" spc="-1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900" kern="0" spc="7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拥有强烈的精</a:t>
              </a:r>
              <a:r>
                <a:rPr sz="1900" kern="0" spc="6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力或决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12700" algn="l" rtl="0" eaLnBrk="0">
                <a:lnSpc>
                  <a:spcPct val="167000"/>
                </a:lnSpc>
                <a:spcBef>
                  <a:spcPts val="5"/>
                </a:spcBef>
              </a:pPr>
              <a:r>
                <a:rPr sz="1900" kern="0" spc="1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心，但他们倾向于把同样的标准强</a:t>
              </a:r>
              <a:r>
                <a:rPr sz="1900" kern="0" spc="10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加在别人身</a:t>
              </a:r>
              <a:r>
                <a:rPr sz="1900" kern="0" spc="-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sz="1900" kern="0" spc="-4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上</a:t>
              </a:r>
              <a:r>
                <a:rPr sz="1900" kern="0" spc="-46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sz="1900" kern="0" spc="-4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。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58" name="group 58"/>
          <p:cNvGrpSpPr/>
          <p:nvPr/>
        </p:nvGrpSpPr>
        <p:grpSpPr>
          <a:xfrm rot="21600000">
            <a:off x="368274" y="8648780"/>
            <a:ext cx="6438906" cy="2070066"/>
            <a:chOff x="0" y="0"/>
            <a:chExt cx="6438906" cy="2070066"/>
          </a:xfrm>
        </p:grpSpPr>
        <p:pic>
          <p:nvPicPr>
            <p:cNvPr id="258" name="picture 25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6438906" cy="2070066"/>
            </a:xfrm>
            <a:prstGeom prst="rect">
              <a:avLst/>
            </a:prstGeom>
          </p:spPr>
        </p:pic>
        <p:sp>
          <p:nvSpPr>
            <p:cNvPr id="260" name="textbox 260"/>
            <p:cNvSpPr/>
            <p:nvPr/>
          </p:nvSpPr>
          <p:spPr>
            <a:xfrm>
              <a:off x="234942" y="162314"/>
              <a:ext cx="5003165" cy="14712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0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8000"/>
                </a:lnSpc>
              </a:pPr>
              <a:r>
                <a:rPr sz="1900" kern="0" spc="12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容易内耗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3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575"/>
                </a:spcBef>
              </a:pPr>
              <a:r>
                <a:rPr sz="19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ENFJ</a:t>
              </a:r>
              <a:r>
                <a:rPr sz="1900" kern="0" spc="12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在被别人讨厌、冷落时，或者情感受挫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12700" algn="l" rtl="0" eaLnBrk="0">
                <a:lnSpc>
                  <a:spcPts val="3450"/>
                </a:lnSpc>
              </a:pPr>
              <a:r>
                <a:rPr sz="1900" kern="0" spc="4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时，会首先自我怀疑，从而陷入内耗。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sp>
        <p:nvSpPr>
          <p:cNvPr id="262" name="textbox 262"/>
          <p:cNvSpPr/>
          <p:nvPr/>
        </p:nvSpPr>
        <p:spPr>
          <a:xfrm>
            <a:off x="603216" y="17319159"/>
            <a:ext cx="5389245" cy="16713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具有的理想主义可能会导致他们对潜在利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60000"/>
              </a:lnSpc>
              <a:spcBef>
                <a:spcPts val="35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益的过度期待，在受到现实暴击之后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，学会从更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宏观的角度看待问题，反复去面对困难，战胜困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难，从中学习，用受益者心态面对所有。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4" name="textbox 264"/>
          <p:cNvSpPr/>
          <p:nvPr/>
        </p:nvSpPr>
        <p:spPr>
          <a:xfrm>
            <a:off x="603216" y="20622350"/>
            <a:ext cx="5381625" cy="1225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的个性导致在他们面对压</a:t>
            </a:r>
            <a:r>
              <a:rPr sz="19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力时，情愿过度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63000"/>
              </a:lnSpc>
              <a:spcBef>
                <a:spcPts val="35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承担责任，试图满足所有人的期望，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几乎给自己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带来巨大负担。想要改变的话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，需要学会设定合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6" name="textbox 266"/>
          <p:cNvSpPr/>
          <p:nvPr/>
        </p:nvSpPr>
        <p:spPr>
          <a:xfrm>
            <a:off x="342887" y="14228756"/>
            <a:ext cx="6045834" cy="10293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7000"/>
              </a:lnSpc>
            </a:pPr>
            <a:r>
              <a:rPr sz="1800" kern="0" spc="-60" dirty="0">
                <a:solidFill>
                  <a:srgbClr val="E0B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ADVANCED GUIDE</a:t>
            </a:r>
            <a:endParaRPr sz="1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39115" algn="l" rtl="0" eaLnBrk="0">
              <a:lnSpc>
                <a:spcPct val="98000"/>
              </a:lnSpc>
              <a:tabLst>
                <a:tab pos="4057650" algn="l"/>
              </a:tabLst>
            </a:pPr>
            <a:r>
              <a:rPr sz="3400" u="sng" kern="0" spc="0" dirty="0">
                <a:solidFill>
                  <a:srgbClr val="F08060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3400" kern="0" spc="-230" dirty="0">
                <a:solidFill>
                  <a:srgbClr val="F08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3400" b="1" kern="0" spc="100" dirty="0">
                <a:solidFill>
                  <a:srgbClr val="F08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进阶指南</a:t>
            </a:r>
            <a:endParaRPr sz="3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68" name="picture 26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55587" y="14630437"/>
            <a:ext cx="527037" cy="533408"/>
          </a:xfrm>
          <a:prstGeom prst="rect">
            <a:avLst/>
          </a:prstGeom>
        </p:spPr>
      </p:pic>
      <p:grpSp>
        <p:nvGrpSpPr>
          <p:cNvPr id="60" name="group 60"/>
          <p:cNvGrpSpPr/>
          <p:nvPr/>
        </p:nvGrpSpPr>
        <p:grpSpPr>
          <a:xfrm rot="21600000">
            <a:off x="368274" y="19430899"/>
            <a:ext cx="2578127" cy="825518"/>
            <a:chOff x="0" y="0"/>
            <a:chExt cx="2578127" cy="825518"/>
          </a:xfrm>
        </p:grpSpPr>
        <p:pic>
          <p:nvPicPr>
            <p:cNvPr id="270" name="picture 27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2578127" cy="825518"/>
            </a:xfrm>
            <a:prstGeom prst="rect">
              <a:avLst/>
            </a:prstGeom>
          </p:spPr>
        </p:pic>
        <p:sp>
          <p:nvSpPr>
            <p:cNvPr id="272" name="textbox 272"/>
            <p:cNvSpPr/>
            <p:nvPr/>
          </p:nvSpPr>
          <p:spPr>
            <a:xfrm>
              <a:off x="-12700" y="-12700"/>
              <a:ext cx="2604135" cy="8826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83515" algn="l" rtl="0" eaLnBrk="0">
                <a:lnSpc>
                  <a:spcPct val="98000"/>
                </a:lnSpc>
              </a:pPr>
              <a:r>
                <a:rPr sz="1900" kern="0" spc="12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抛掉无谓的负罪感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62" name="group 62"/>
          <p:cNvGrpSpPr/>
          <p:nvPr/>
        </p:nvGrpSpPr>
        <p:grpSpPr>
          <a:xfrm rot="21600000">
            <a:off x="355587" y="16084500"/>
            <a:ext cx="2317729" cy="825518"/>
            <a:chOff x="0" y="0"/>
            <a:chExt cx="2317729" cy="825518"/>
          </a:xfrm>
        </p:grpSpPr>
        <p:pic>
          <p:nvPicPr>
            <p:cNvPr id="274" name="picture 27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2317729" cy="825518"/>
            </a:xfrm>
            <a:prstGeom prst="rect">
              <a:avLst/>
            </a:prstGeom>
          </p:spPr>
        </p:pic>
        <p:sp>
          <p:nvSpPr>
            <p:cNvPr id="276" name="textbox 276"/>
            <p:cNvSpPr/>
            <p:nvPr/>
          </p:nvSpPr>
          <p:spPr>
            <a:xfrm>
              <a:off x="-12700" y="-12700"/>
              <a:ext cx="2343150" cy="88773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96215" algn="l" rtl="0" eaLnBrk="0">
                <a:lnSpc>
                  <a:spcPct val="97000"/>
                </a:lnSpc>
                <a:spcBef>
                  <a:spcPts val="5"/>
                </a:spcBef>
              </a:pPr>
              <a:r>
                <a:rPr sz="2200" kern="0" spc="-17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发展受益者思维</a:t>
              </a:r>
              <a:endParaRPr sz="2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421</Words>
  <Application>WPS 演示</Application>
  <PresentationFormat/>
  <Paragraphs>56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</vt:lpstr>
      <vt:lpstr>黑体</vt:lpstr>
      <vt:lpstr>Times New Roman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商显厂家 李工13246883050</cp:lastModifiedBy>
  <cp:revision>2</cp:revision>
  <dcterms:created xsi:type="dcterms:W3CDTF">2026-06-05T06:34:00Z</dcterms:created>
  <dcterms:modified xsi:type="dcterms:W3CDTF">2026-06-05T06:35:26Z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2026-06-05T22:23:06Z</vt:filetime>
  </property>
  <property fmtid="{D5CDD505-2E9C-101B-9397-08002B2CF9AE}" pid="4" name="UsrData">
    <vt:lpwstr>6a226b32bfaa9e001f1e18f2wl</vt:lpwstr>
  </property>
  <property fmtid="{D5CDD505-2E9C-101B-9397-08002B2CF9AE}" pid="5" name="KSOProductBuildVer">
    <vt:lpwstr>2052-12.1.0.26375</vt:lpwstr>
  </property>
  <property fmtid="{D5CDD505-2E9C-101B-9397-08002B2CF9AE}" pid="6" name="ICV">
    <vt:lpwstr>6F1C3CC4AD0A4E5CB61C0F13F598EDD2_12</vt:lpwstr>
  </property>
</Properties>
</file>