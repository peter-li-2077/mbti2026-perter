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2"/>
          <p:cNvGrpSpPr/>
          <p:nvPr/>
        </p:nvGrpSpPr>
        <p:grpSpPr>
          <a:xfrm rot="21600000">
            <a:off x="368274" y="11541089"/>
            <a:ext cx="6470693" cy="5622873"/>
            <a:chOff x="0" y="330110"/>
            <a:chExt cx="6470693" cy="5622873"/>
          </a:xfrm>
        </p:grpSpPr>
        <p:pic>
          <p:nvPicPr>
            <p:cNvPr id="302" name="picture 30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1079389"/>
              <a:ext cx="5988062" cy="844711"/>
            </a:xfrm>
            <a:prstGeom prst="rect">
              <a:avLst/>
            </a:prstGeom>
          </p:spPr>
        </p:pic>
        <p:sp>
          <p:nvSpPr>
            <p:cNvPr id="304" name="textbox 304"/>
            <p:cNvSpPr/>
            <p:nvPr/>
          </p:nvSpPr>
          <p:spPr>
            <a:xfrm>
              <a:off x="355643" y="330110"/>
              <a:ext cx="6115050" cy="51695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3365" algn="l" rtl="0" eaLnBrk="0">
                <a:lnSpc>
                  <a:spcPct val="90000"/>
                </a:lnSpc>
                <a:spcBef>
                  <a:spcPts val="5"/>
                </a:spcBef>
              </a:pPr>
              <a:r>
                <a:rPr sz="2400" kern="0" spc="-1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主导功能：</a:t>
              </a:r>
              <a:r>
                <a:rPr sz="2600" kern="0" spc="-17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</a:t>
              </a:r>
              <a:r>
                <a:rPr sz="2600" kern="0" spc="3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400" kern="0" spc="-1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(外倾情感)</a:t>
              </a:r>
              <a:r>
                <a:rPr sz="2400" kern="0" spc="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    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5000"/>
                </a:lnSpc>
                <a:spcBef>
                  <a:spcPts val="570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-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的主导功能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使他们对他人的情感和需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157000"/>
                </a:lnSpc>
                <a:spcBef>
                  <a:spcPts val="65"/>
                </a:spcBef>
              </a:pP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求有着极其敏锐的感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知。他们能够迅速捕捉到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</a:t>
              </a: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群体中的情感氛围，并致力于营造和谐、积极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</a:t>
              </a:r>
              <a:r>
                <a:rPr sz="1900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的人际关系环境。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5000"/>
                </a:lnSpc>
                <a:spcBef>
                  <a:spcPts val="575"/>
                </a:spcBef>
              </a:pP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主导的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ENFJ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往往具有很强的感染力和说服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160000"/>
                </a:lnSpc>
                <a:spcBef>
                  <a:spcPts val="20"/>
                </a:spcBef>
              </a:pPr>
              <a:r>
                <a:rPr sz="1900" kern="0" spc="1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力，能够通过情感连接激</a:t>
              </a:r>
              <a:r>
                <a:rPr sz="19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励和引导他人，在团</a:t>
              </a:r>
              <a:r>
                <a:rPr sz="19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</a:t>
              </a:r>
              <a:r>
                <a:rPr sz="19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队中常常成为天然的领导者和协调者。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312" name="picture 3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013506" y="1784279"/>
              <a:ext cx="12687" cy="4064035"/>
            </a:xfrm>
            <a:prstGeom prst="rect">
              <a:avLst/>
            </a:prstGeom>
          </p:spPr>
        </p:pic>
        <p:pic>
          <p:nvPicPr>
            <p:cNvPr id="314" name="picture 3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76192" y="5946633"/>
              <a:ext cx="5848365" cy="6350"/>
            </a:xfrm>
            <a:prstGeom prst="rect">
              <a:avLst/>
            </a:prstGeom>
          </p:spPr>
        </p:pic>
      </p:grpSp>
      <p:sp>
        <p:nvSpPr>
          <p:cNvPr id="316" name="textbox 316"/>
          <p:cNvSpPr/>
          <p:nvPr/>
        </p:nvSpPr>
        <p:spPr>
          <a:xfrm>
            <a:off x="723917" y="18915431"/>
            <a:ext cx="5132070" cy="278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提供了对未来的洞察力和前瞻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性思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2000"/>
              </a:lnSpc>
              <a:spcBef>
                <a:spcPts val="1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维。他们能够看到潜在的可能性和发展趋势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从而为团队或个人规划出富有远见的方向。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</a:t>
            </a:r>
            <a:r>
              <a:rPr sz="1900" kern="0" spc="-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相结合，使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在理解他人的同时，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6000"/>
              </a:lnSpc>
              <a:spcBef>
                <a:spcPts val="5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能够为大家描绘出令人向往的未来蓝图，并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激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励大家朝着这个方向努力。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609594" y="7271453"/>
            <a:ext cx="5386704" cy="212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在工作和生活里倾向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于追求确定性，期望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0000"/>
              </a:lnSpc>
              <a:spcBef>
                <a:spcPts val="2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事情具备清晰的因果导向和可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控性。然而，事物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通常不会依照人们的预期去进展，所以在更多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时候，需要接纳这种不确定性。实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际上，确定性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本身相当可怕，唯有维持不确定性才会有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生机。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609594" y="3429675"/>
            <a:ext cx="5382259" cy="212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首先要关注自我，明确自身优势与价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6000"/>
              </a:lnSpc>
              <a:spcBef>
                <a:spcPts val="22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勇于表达真实想法，不惧怕他人反对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。设定切实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可行的目标，每达成一个就给予自己积极反馈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多从成功经验中汲取力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量，不断强化积极的自我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认知，从而逐步建立稳固且健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康的自信。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2165332" y="9718696"/>
            <a:ext cx="4686934" cy="1519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"/>
              </a:spcBef>
            </a:pPr>
            <a:r>
              <a:rPr sz="1800" kern="0" spc="-4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EIGHT-DIMENS</a:t>
            </a:r>
            <a:r>
              <a:rPr sz="1800" kern="0" spc="-5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IONAL</a:t>
            </a:r>
            <a:r>
              <a:rPr sz="1800" kern="0" spc="14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kern="0" spc="-50" dirty="0">
                <a:solidFill>
                  <a:srgbClr val="F0B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INTERPRETATION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609594" y="540526"/>
            <a:ext cx="5374640" cy="1254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理的边界，明确自身能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力范围。在压力下保持冷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69000"/>
              </a:lnSpc>
              <a:spcBef>
                <a:spcPts val="40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静，分析问题根源。培养放松的技巧，如冥想、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运动等。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381030" y="17745127"/>
            <a:ext cx="5988050" cy="819150"/>
          </a:xfrm>
          <a:prstGeom prst="rect">
            <a:avLst/>
          </a:prstGeom>
          <a:solidFill>
            <a:srgbClr val="8964C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1665" algn="l" rtl="0" eaLnBrk="0">
              <a:lnSpc>
                <a:spcPts val="3270"/>
              </a:lnSpc>
              <a:spcBef>
                <a:spcPts val="0"/>
              </a:spcBef>
            </a:pPr>
            <a:r>
              <a:rPr sz="2400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辅助功能：</a:t>
            </a:r>
            <a:r>
              <a:rPr sz="2400" kern="0" spc="-1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</a:t>
            </a:r>
            <a:r>
              <a:rPr sz="2400" kern="0" spc="4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-1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400" kern="0" spc="-1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内倾直觉</a:t>
            </a:r>
            <a:r>
              <a:rPr sz="2400" kern="0" spc="-1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355574" y="11198279"/>
            <a:ext cx="6043295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6100" algn="l" rtl="0" eaLnBrk="0">
              <a:lnSpc>
                <a:spcPct val="85000"/>
              </a:lnSpc>
              <a:spcBef>
                <a:spcPts val="0"/>
              </a:spcBef>
              <a:tabLst>
                <a:tab pos="4038600" algn="l"/>
              </a:tabLst>
            </a:pPr>
            <a:r>
              <a:rPr sz="3900" u="sng" kern="0" spc="0" dirty="0">
                <a:solidFill>
                  <a:srgbClr val="E0806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900" kern="0" spc="-43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900" kern="0" spc="-44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八</a:t>
            </a:r>
            <a:r>
              <a:rPr sz="3900" b="1" kern="0" spc="-44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维解</a:t>
            </a:r>
            <a:r>
              <a:rPr sz="3900" b="1" kern="0" spc="-200" dirty="0">
                <a:solidFill>
                  <a:srgbClr val="E08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读</a:t>
            </a:r>
            <a:endParaRPr sz="3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8274" y="11210979"/>
            <a:ext cx="533415" cy="520744"/>
          </a:xfrm>
          <a:prstGeom prst="rect">
            <a:avLst/>
          </a:prstGeom>
        </p:spPr>
      </p:pic>
      <p:grpSp>
        <p:nvGrpSpPr>
          <p:cNvPr id="74" name="group 74"/>
          <p:cNvGrpSpPr/>
          <p:nvPr/>
        </p:nvGrpSpPr>
        <p:grpSpPr>
          <a:xfrm rot="21600000">
            <a:off x="368274" y="6035651"/>
            <a:ext cx="2051090" cy="825439"/>
            <a:chOff x="0" y="0"/>
            <a:chExt cx="2051090" cy="825439"/>
          </a:xfrm>
        </p:grpSpPr>
        <p:pic>
          <p:nvPicPr>
            <p:cNvPr id="334" name="picture 3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051090" cy="825439"/>
            </a:xfrm>
            <a:prstGeom prst="rect">
              <a:avLst/>
            </a:prstGeom>
          </p:spPr>
        </p:pic>
        <p:sp>
          <p:nvSpPr>
            <p:cNvPr id="336" name="textbox 336"/>
            <p:cNvSpPr/>
            <p:nvPr/>
          </p:nvSpPr>
          <p:spPr>
            <a:xfrm>
              <a:off x="-12700" y="-12700"/>
              <a:ext cx="2077085" cy="8839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0" algn="l" rtl="0" eaLnBrk="0">
                <a:lnSpc>
                  <a:spcPct val="96000"/>
                </a:lnSpc>
              </a:pPr>
              <a:r>
                <a:rPr sz="1900" kern="0" spc="1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接受不确定性</a:t>
              </a:r>
              <a:endParaRPr sz="1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 rot="21600000">
            <a:off x="368274" y="2212930"/>
            <a:ext cx="1543050" cy="825439"/>
            <a:chOff x="0" y="0"/>
            <a:chExt cx="1543050" cy="825439"/>
          </a:xfrm>
        </p:grpSpPr>
        <p:pic>
          <p:nvPicPr>
            <p:cNvPr id="338" name="picture 33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543050" cy="825439"/>
            </a:xfrm>
            <a:prstGeom prst="rect">
              <a:avLst/>
            </a:prstGeom>
          </p:spPr>
        </p:pic>
        <p:sp>
          <p:nvSpPr>
            <p:cNvPr id="340" name="textbox 340"/>
            <p:cNvSpPr/>
            <p:nvPr/>
          </p:nvSpPr>
          <p:spPr>
            <a:xfrm>
              <a:off x="-12700" y="-12700"/>
              <a:ext cx="1568450" cy="8909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0" algn="l" rtl="0" eaLnBrk="0">
                <a:lnSpc>
                  <a:spcPct val="96000"/>
                </a:lnSpc>
              </a:pPr>
              <a:r>
                <a:rPr sz="2200" kern="0" spc="-1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建立自信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374" name="picture 3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5587" y="12995258"/>
            <a:ext cx="12687" cy="4089515"/>
          </a:xfrm>
          <a:prstGeom prst="rect">
            <a:avLst/>
          </a:prstGeom>
        </p:spPr>
      </p:pic>
      <p:pic>
        <p:nvPicPr>
          <p:cNvPr id="376" name="picture 37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55587" y="17846620"/>
            <a:ext cx="12687" cy="3898946"/>
          </a:xfrm>
          <a:prstGeom prst="rect">
            <a:avLst/>
          </a:prstGeom>
        </p:spPr>
      </p:pic>
      <p:pic>
        <p:nvPicPr>
          <p:cNvPr id="378" name="picture 37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381780" y="17859468"/>
            <a:ext cx="12687" cy="3886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WPS 演示</Application>
  <PresentationFormat/>
  <Paragraphs>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