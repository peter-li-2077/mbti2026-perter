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6" r:id="rId3"/>
  </p:sldIdLst>
  <p:sldSz cx="6858000" cy="221170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jpeg"/><Relationship Id="rId8" Type="http://schemas.openxmlformats.org/officeDocument/2006/relationships/image" Target="../media/image8.jpeg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picture 6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60425" y="2289170"/>
            <a:ext cx="2609811" cy="501591"/>
          </a:xfrm>
          <a:prstGeom prst="rect">
            <a:avLst/>
          </a:prstGeom>
        </p:spPr>
      </p:pic>
      <p:pic>
        <p:nvPicPr>
          <p:cNvPr id="676" name="picture 6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0425" y="5743641"/>
            <a:ext cx="2876519" cy="482488"/>
          </a:xfrm>
          <a:prstGeom prst="rect">
            <a:avLst/>
          </a:prstGeom>
        </p:spPr>
      </p:pic>
      <p:pic>
        <p:nvPicPr>
          <p:cNvPr id="678" name="picture 6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0425" y="8308899"/>
            <a:ext cx="2889206" cy="470039"/>
          </a:xfrm>
          <a:prstGeom prst="rect">
            <a:avLst/>
          </a:prstGeom>
        </p:spPr>
      </p:pic>
      <p:pic>
        <p:nvPicPr>
          <p:cNvPr id="680" name="picture 6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68274" y="1025430"/>
            <a:ext cx="5988062" cy="908099"/>
          </a:xfrm>
          <a:prstGeom prst="rect">
            <a:avLst/>
          </a:prstGeom>
        </p:spPr>
      </p:pic>
      <p:graphicFrame>
        <p:nvGraphicFramePr>
          <p:cNvPr id="682" name="table 682"/>
          <p:cNvGraphicFramePr>
            <a:graphicFrameLocks noGrp="1"/>
          </p:cNvGraphicFramePr>
          <p:nvPr/>
        </p:nvGraphicFramePr>
        <p:xfrm>
          <a:off x="368274" y="911246"/>
          <a:ext cx="6013450" cy="10553064"/>
        </p:xfrm>
        <a:graphic>
          <a:graphicData uri="http://schemas.openxmlformats.org/drawingml/2006/table">
            <a:tbl>
              <a:tblPr/>
              <a:tblGrid>
                <a:gridCol w="6013450"/>
              </a:tblGrid>
              <a:tr h="1200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20750" algn="l" rtl="0" eaLnBrk="0">
                        <a:lnSpc>
                          <a:spcPts val="2730"/>
                        </a:lnSpc>
                        <a:spcBef>
                          <a:spcPts val="5"/>
                        </a:spcBef>
                      </a:pPr>
                      <a:r>
                        <a:rPr sz="2200" kern="0" spc="-1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恋爱特点：</a:t>
                      </a:r>
                      <a:endParaRPr sz="22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8000" algn="l" rtl="0" eaLnBrk="0">
                        <a:lnSpc>
                          <a:spcPct val="96000"/>
                        </a:lnSpc>
                        <a:spcBef>
                          <a:spcPts val="0"/>
                        </a:spcBef>
                      </a:pPr>
                      <a:r>
                        <a:rPr sz="22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理想化的形象塑造</a:t>
                      </a:r>
                      <a:endParaRPr sz="22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758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876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ENFJ</a:t>
                      </a:r>
                      <a:r>
                        <a:rPr sz="19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常常理想化爱情，渴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望与伴侣建立深厚的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marL="278765" algn="l" rtl="0" eaLnBrk="0">
                        <a:lnSpc>
                          <a:spcPct val="155000"/>
                        </a:lnSpc>
                        <a:spcBef>
                          <a:spcPts val="45"/>
                        </a:spcBef>
                      </a:pP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情感连接和有意义的关系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。心中有着对理想爱情</a:t>
                      </a: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</a:t>
                      </a: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的美好想象，追求真挚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、深厚且有意义的感情连</a:t>
                      </a: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</a:t>
                      </a: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接。但有时可能因现实与理想的差距而感到失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8765" algn="l" rtl="0" eaLnBrk="0">
                        <a:lnSpc>
                          <a:spcPct val="97000"/>
                        </a:lnSpc>
                      </a:pPr>
                      <a:r>
                        <a:rPr sz="19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落</a:t>
                      </a:r>
                      <a:r>
                        <a:rPr sz="1900" kern="0" spc="-4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19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。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563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4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8000" algn="l" rtl="0" eaLnBrk="0">
                        <a:lnSpc>
                          <a:spcPct val="96000"/>
                        </a:lnSpc>
                      </a:pPr>
                      <a:r>
                        <a:rPr sz="2200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热情直率的情感表达</a:t>
                      </a:r>
                      <a:endParaRPr sz="22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957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8765" algn="l" rtl="0" eaLnBrk="0">
                        <a:lnSpc>
                          <a:spcPct val="147000"/>
                        </a:lnSpc>
                      </a:pP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ENFJ</a:t>
                      </a:r>
                      <a:r>
                        <a:rPr sz="19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投入恋爱时充满激情，他们的热情能感染</a:t>
                      </a:r>
                      <a:r>
                        <a:rPr sz="1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 </a:t>
                      </a: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伴侣，让恋爱充满活力与浪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漫。感情中会坦率直</a:t>
                      </a: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</a:t>
                      </a: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接地表达自己的爱意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和想法，不喜欢拐弯抹角。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505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4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8000" algn="l" rtl="0" eaLnBrk="0">
                        <a:lnSpc>
                          <a:spcPct val="95000"/>
                        </a:lnSpc>
                      </a:pPr>
                      <a:r>
                        <a:rPr sz="2200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亲密关系的忠诚奉献</a:t>
                      </a:r>
                      <a:endParaRPr sz="22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438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876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19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一</a:t>
                      </a:r>
                      <a:r>
                        <a:rPr sz="1900" kern="0" spc="-5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19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旦陷入爱情，</a:t>
                      </a:r>
                      <a:r>
                        <a:rPr sz="1900" kern="0" spc="-3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</a:t>
                      </a: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ENFJ</a:t>
                      </a:r>
                      <a:r>
                        <a:rPr sz="19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会对伴侣表现出极高的忠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  <a:p>
                      <a:pPr marL="278765" algn="l" rtl="0" eaLnBrk="0">
                        <a:lnSpc>
                          <a:spcPct val="155000"/>
                        </a:lnSpc>
                        <a:spcBef>
                          <a:spcPts val="5"/>
                        </a:spcBef>
                      </a:pP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诚度，愿意为了关系的稳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定和幸福无私奉献。对</a:t>
                      </a: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</a:t>
                      </a:r>
                      <a:r>
                        <a:rPr sz="19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伴侣关怀备至，能敏锐地察觉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到对方的需求，并</a:t>
                      </a: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    </a:t>
                      </a:r>
                      <a:r>
                        <a:rPr sz="19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及时提供支持和安慰。</a:t>
                      </a:r>
                      <a:endParaRPr sz="1900" dirty="0"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84" name="textbox 684"/>
          <p:cNvSpPr/>
          <p:nvPr/>
        </p:nvSpPr>
        <p:spPr>
          <a:xfrm>
            <a:off x="634969" y="14097756"/>
            <a:ext cx="5386070" cy="36169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性格：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ENFJ</a:t>
            </a:r>
            <a:r>
              <a:rPr sz="1900" kern="0" spc="-2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在恋爱初期充满热情和魅力，富有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405"/>
              </a:lnSpc>
            </a:pPr>
            <a:r>
              <a:rPr sz="1900" kern="0" spc="-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理想主义。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580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行为：会积极主动地与对方交流，展现出自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信和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57000"/>
              </a:lnSpc>
              <a:spcBef>
                <a:spcPts val="40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乐观的一面。可能会频繁地联系对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方，安排各种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有趣的约会活动。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4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57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心理：内心充满期待和兴奋，对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新的恋情充满美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350"/>
              </a:lnSpc>
            </a:pPr>
            <a:r>
              <a:rPr sz="19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好的幻想，急于了解对方的一切。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86" name="textbox 686"/>
          <p:cNvSpPr/>
          <p:nvPr/>
        </p:nvSpPr>
        <p:spPr>
          <a:xfrm>
            <a:off x="634969" y="19139628"/>
            <a:ext cx="5386070" cy="2409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性格：依然热情，但更加注重深度的情感连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接和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3445"/>
              </a:lnSpc>
            </a:pPr>
            <a:r>
              <a:rPr sz="1900" kern="0" spc="-1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理解。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  <a:spcBef>
                <a:spcPts val="570"/>
              </a:spcBef>
            </a:pP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行为：开始与对方分享更多内心的想法和感受</a:t>
            </a:r>
            <a:r>
              <a:rPr sz="1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57000"/>
              </a:lnSpc>
              <a:spcBef>
                <a:spcPts val="35"/>
              </a:spcBef>
            </a:pPr>
            <a:r>
              <a:rPr sz="19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努力增进彼此的了解。可能会</a:t>
            </a: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为了关系的稳定做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出一些妥协和改变。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82" name="group 182"/>
          <p:cNvGrpSpPr/>
          <p:nvPr/>
        </p:nvGrpSpPr>
        <p:grpSpPr>
          <a:xfrm rot="21600000">
            <a:off x="355587" y="12023716"/>
            <a:ext cx="6000750" cy="920762"/>
            <a:chOff x="0" y="0"/>
            <a:chExt cx="6000750" cy="920762"/>
          </a:xfrm>
        </p:grpSpPr>
        <p:pic>
          <p:nvPicPr>
            <p:cNvPr id="688" name="picture 68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6000750" cy="920762"/>
            </a:xfrm>
            <a:prstGeom prst="rect">
              <a:avLst/>
            </a:prstGeom>
          </p:spPr>
        </p:pic>
        <p:sp>
          <p:nvSpPr>
            <p:cNvPr id="690" name="textbox 690"/>
            <p:cNvSpPr/>
            <p:nvPr/>
          </p:nvSpPr>
          <p:spPr>
            <a:xfrm>
              <a:off x="-12700" y="-12700"/>
              <a:ext cx="6026150" cy="9842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9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945515" algn="l" rtl="0" eaLnBrk="0">
                <a:lnSpc>
                  <a:spcPts val="2730"/>
                </a:lnSpc>
              </a:pPr>
              <a:r>
                <a:rPr sz="2200" kern="0" spc="-13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恋爱状态：</a:t>
              </a:r>
              <a:endParaRPr sz="2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184" name="group 184"/>
          <p:cNvGrpSpPr/>
          <p:nvPr/>
        </p:nvGrpSpPr>
        <p:grpSpPr>
          <a:xfrm rot="21600000">
            <a:off x="660425" y="18361096"/>
            <a:ext cx="1511297" cy="488927"/>
            <a:chOff x="0" y="0"/>
            <a:chExt cx="1511297" cy="488927"/>
          </a:xfrm>
        </p:grpSpPr>
        <p:pic>
          <p:nvPicPr>
            <p:cNvPr id="692" name="picture 69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1511297" cy="488927"/>
            </a:xfrm>
            <a:prstGeom prst="rect">
              <a:avLst/>
            </a:prstGeom>
          </p:spPr>
        </p:pic>
        <p:sp>
          <p:nvSpPr>
            <p:cNvPr id="694" name="textbox 694"/>
            <p:cNvSpPr/>
            <p:nvPr/>
          </p:nvSpPr>
          <p:spPr>
            <a:xfrm>
              <a:off x="-12700" y="-12700"/>
              <a:ext cx="1536700" cy="5530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</a:pPr>
              <a:endParaRPr sz="9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6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27965" algn="l" rtl="0" eaLnBrk="0">
                <a:lnSpc>
                  <a:spcPct val="96000"/>
                </a:lnSpc>
              </a:pPr>
              <a:r>
                <a:rPr sz="2200" kern="0" spc="-6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热恋阶段</a:t>
              </a:r>
              <a:endParaRPr sz="2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186" name="group 186"/>
          <p:cNvGrpSpPr/>
          <p:nvPr/>
        </p:nvGrpSpPr>
        <p:grpSpPr>
          <a:xfrm rot="21600000">
            <a:off x="660425" y="13331887"/>
            <a:ext cx="1511297" cy="482487"/>
            <a:chOff x="0" y="0"/>
            <a:chExt cx="1511297" cy="482487"/>
          </a:xfrm>
        </p:grpSpPr>
        <p:pic>
          <p:nvPicPr>
            <p:cNvPr id="696" name="picture 69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1511297" cy="482487"/>
            </a:xfrm>
            <a:prstGeom prst="rect">
              <a:avLst/>
            </a:prstGeom>
          </p:spPr>
        </p:pic>
        <p:sp>
          <p:nvSpPr>
            <p:cNvPr id="698" name="textbox 698"/>
            <p:cNvSpPr/>
            <p:nvPr/>
          </p:nvSpPr>
          <p:spPr>
            <a:xfrm>
              <a:off x="-12700" y="-12700"/>
              <a:ext cx="1536700" cy="5448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</a:pPr>
              <a:endParaRPr sz="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27965" algn="l" rtl="0" eaLnBrk="0">
                <a:lnSpc>
                  <a:spcPct val="95000"/>
                </a:lnSpc>
                <a:spcBef>
                  <a:spcPts val="5"/>
                </a:spcBef>
              </a:pPr>
              <a:r>
                <a:rPr sz="2200" kern="0" spc="-60" dirty="0">
                  <a:solidFill>
                    <a:srgbClr val="FFFFFF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暧昧阶段</a:t>
              </a:r>
              <a:endParaRPr sz="2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pic>
        <p:nvPicPr>
          <p:cNvPr id="740" name="picture 7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65099" y="12011052"/>
            <a:ext cx="6350" cy="9759870"/>
          </a:xfrm>
          <a:prstGeom prst="rect">
            <a:avLst/>
          </a:prstGeom>
        </p:spPr>
      </p:pic>
      <p:pic>
        <p:nvPicPr>
          <p:cNvPr id="742" name="picture 74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378605" y="12099910"/>
            <a:ext cx="6350" cy="7029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500</Words>
  <Application>WPS 演示</Application>
  <PresentationFormat/>
  <Paragraphs>52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</vt:lpstr>
      <vt:lpstr>黑体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商显厂家 李工13246883050</cp:lastModifiedBy>
  <cp:revision>2</cp:revision>
  <dcterms:created xsi:type="dcterms:W3CDTF">2026-06-05T06:34:00Z</dcterms:created>
  <dcterms:modified xsi:type="dcterms:W3CDTF">2026-06-05T06:35:27Z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2026-06-05T22:23:06Z</vt:filetime>
  </property>
  <property fmtid="{D5CDD505-2E9C-101B-9397-08002B2CF9AE}" pid="4" name="UsrData">
    <vt:lpwstr>6a226b32bfaa9e001f1e18f2wl</vt:lpwstr>
  </property>
  <property fmtid="{D5CDD505-2E9C-101B-9397-08002B2CF9AE}" pid="5" name="KSOProductBuildVer">
    <vt:lpwstr>2052-12.1.0.26375</vt:lpwstr>
  </property>
  <property fmtid="{D5CDD505-2E9C-101B-9397-08002B2CF9AE}" pid="6" name="ICV">
    <vt:lpwstr>6F1C3CC4AD0A4E5CB61C0F13F598EDD2_12</vt:lpwstr>
  </property>
</Properties>
</file>