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box 504"/>
          <p:cNvSpPr/>
          <p:nvPr/>
        </p:nvSpPr>
        <p:spPr>
          <a:xfrm>
            <a:off x="609594" y="8001655"/>
            <a:ext cx="5373370" cy="8195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</a:pPr>
            <a:r>
              <a:rPr sz="23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缺乏意义和目标感：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对于缺乏意义和目标感的工作环境可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能会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9000"/>
              </a:lnSpc>
              <a:spcBef>
                <a:spcPts val="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感到失落和不满，因为他们希望工作能够对社会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或他人产生积极影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响。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8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竞争压力激烈巨大：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面对竞争激烈且压力巨大的工作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环境或许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1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会产生焦虑情绪和不适感，因为他们更契合合作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与协调的环境。在那种高强度竞争和高压的工作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氛围中，</a:t>
            </a:r>
            <a:r>
              <a:rPr sz="1900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可能会因为无法适应而倍感焦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2000"/>
              </a:lnSpc>
              <a:spcBef>
                <a:spcPts val="50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虑，相比之下，他们在教育领域那种注重团队合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作和协调的环境中会更加如鱼得水。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5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缺乏创造性发挥空间：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通常富有创造力，热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衷于提出新颖的想法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4000"/>
              </a:lnSpc>
              <a:spcBef>
                <a:spcPts val="50"/>
              </a:spcBef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并解决各类问题。在团队讨论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中，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常常能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跳出固有思维，给出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让人眼前一亮的创意和独到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的问题解决方案。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552467" y="17842904"/>
            <a:ext cx="5457190" cy="3890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tabLst>
                <a:tab pos="352425" algn="l"/>
              </a:tabLst>
            </a:pPr>
            <a:r>
              <a:rPr sz="2400" kern="0" spc="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400" b="1" kern="0" spc="-7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公关专员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6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8615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擅长与人建立良好关系，能够有效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地维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8615" algn="l" rtl="0" eaLnBrk="0">
              <a:lnSpc>
                <a:spcPct val="153000"/>
              </a:lnSpc>
              <a:spcBef>
                <a:spcPts val="6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护组织形象，所以如果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让他们来负责组织和执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行各种公关活动，与媒体和社会群体沟通，可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以很好地维护公司形象和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215" algn="l" rtl="0" eaLnBrk="0">
              <a:lnSpc>
                <a:spcPct val="95000"/>
              </a:lnSpc>
              <a:spcBef>
                <a:spcPts val="730"/>
              </a:spcBef>
              <a:tabLst>
                <a:tab pos="352425" algn="l"/>
              </a:tabLst>
            </a:pPr>
            <a:r>
              <a:rPr sz="2400" kern="0" spc="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r>
              <a:rPr sz="2400" b="1" kern="0" spc="-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演讲家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8615" algn="l" rtl="0" eaLnBrk="0">
              <a:lnSpc>
                <a:spcPct val="92000"/>
              </a:lnSpc>
              <a:spcBef>
                <a:spcPts val="0"/>
              </a:spcBef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充满激情和感染力，自身的人格魅力能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5167" y="20847015"/>
            <a:ext cx="184137" cy="203262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5167" y="17932379"/>
            <a:ext cx="184137" cy="190625"/>
          </a:xfrm>
          <a:prstGeom prst="rect">
            <a:avLst/>
          </a:prstGeom>
        </p:spPr>
      </p:pic>
      <p:sp>
        <p:nvSpPr>
          <p:cNvPr id="512" name="textbox 512"/>
          <p:cNvSpPr/>
          <p:nvPr/>
        </p:nvSpPr>
        <p:spPr>
          <a:xfrm>
            <a:off x="609594" y="2347137"/>
            <a:ext cx="5374004" cy="3919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社会道义感很强，他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们重视人道主义价值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5"/>
              </a:spcBef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观，所以适合的工作环境也应该与这些价值观相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符合，例如非营利组织、社会工作等领域。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700"/>
              </a:spcBef>
            </a:pPr>
            <a:r>
              <a:rPr sz="23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工作与生活平衡：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工作和生活能够平衡是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非常重视的，因此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3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他们适合可以提供灵活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的工作时间和假期政策的</a:t>
            </a: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工作环境，以满足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的个人需求和生活</a:t>
            </a: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8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</a:pP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求</a:t>
            </a:r>
            <a:r>
              <a:rPr sz="1900" kern="0" spc="-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4" name="textbox 514"/>
          <p:cNvSpPr/>
          <p:nvPr/>
        </p:nvSpPr>
        <p:spPr>
          <a:xfrm>
            <a:off x="609594" y="484246"/>
            <a:ext cx="5363845" cy="1567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适合可以提供具有挑战性的任务和持续学习的工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515"/>
              </a:lnSpc>
            </a:pP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作环境，以促进个人和职业发</a:t>
            </a:r>
            <a:r>
              <a:rPr sz="1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展。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5"/>
              </a:spcBef>
            </a:pPr>
            <a:r>
              <a:rPr sz="2300" b="1" kern="0" spc="-190" dirty="0">
                <a:solidFill>
                  <a:srgbClr val="108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人道主义价值观：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30" name="group 130"/>
          <p:cNvGrpSpPr/>
          <p:nvPr/>
        </p:nvGrpSpPr>
        <p:grpSpPr>
          <a:xfrm rot="21600000">
            <a:off x="368274" y="6870769"/>
            <a:ext cx="2876588" cy="717522"/>
            <a:chOff x="0" y="0"/>
            <a:chExt cx="2876588" cy="717522"/>
          </a:xfrm>
        </p:grpSpPr>
        <p:pic>
          <p:nvPicPr>
            <p:cNvPr id="516" name="picture 5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876588" cy="717522"/>
            </a:xfrm>
            <a:prstGeom prst="rect">
              <a:avLst/>
            </a:prstGeom>
          </p:spPr>
        </p:pic>
        <p:sp>
          <p:nvSpPr>
            <p:cNvPr id="518" name="textbox 518"/>
            <p:cNvSpPr/>
            <p:nvPr/>
          </p:nvSpPr>
          <p:spPr>
            <a:xfrm>
              <a:off x="-12700" y="-12700"/>
              <a:ext cx="2902585" cy="784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701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2400" b="1" kern="0" spc="-12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不适合的工作环境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32" name="group 132"/>
          <p:cNvGrpSpPr/>
          <p:nvPr/>
        </p:nvGrpSpPr>
        <p:grpSpPr>
          <a:xfrm rot="21600000">
            <a:off x="368274" y="16802123"/>
            <a:ext cx="1708190" cy="730158"/>
            <a:chOff x="0" y="0"/>
            <a:chExt cx="1708190" cy="730158"/>
          </a:xfrm>
        </p:grpSpPr>
        <p:pic>
          <p:nvPicPr>
            <p:cNvPr id="520" name="picture 5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708190" cy="730158"/>
            </a:xfrm>
            <a:prstGeom prst="rect">
              <a:avLst/>
            </a:prstGeom>
          </p:spPr>
        </p:pic>
        <p:sp>
          <p:nvSpPr>
            <p:cNvPr id="522" name="textbox 522"/>
            <p:cNvSpPr/>
            <p:nvPr/>
          </p:nvSpPr>
          <p:spPr>
            <a:xfrm>
              <a:off x="-12700" y="-12700"/>
              <a:ext cx="1734185" cy="798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81610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2400" b="1" kern="0" spc="-11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职业推荐</a:t>
              </a:r>
              <a:endParaRPr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WPS 演示</Application>
  <PresentationFormat/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